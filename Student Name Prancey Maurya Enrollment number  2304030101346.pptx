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butus Slab" charset="1" panose="02000000000000000000"/>
      <p:regular r:id="rId23"/>
    </p:embeddedFont>
    <p:embeddedFont>
      <p:font typeface="Sondos" charset="1" panose="00000500000000000000"/>
      <p:regular r:id="rId24"/>
    </p:embeddedFont>
    <p:embeddedFont>
      <p:font typeface="Canva Sans" charset="1" panose="020B0503030501040103"/>
      <p:regular r:id="rId25"/>
    </p:embeddedFont>
    <p:embeddedFont>
      <p:font typeface="Canva Sans Bold" charset="1" panose="020B0803030501040103"/>
      <p:regular r:id="rId26"/>
    </p:embeddedFont>
    <p:embeddedFont>
      <p:font typeface="Sondos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svg" Type="http://schemas.openxmlformats.org/officeDocument/2006/relationships/image"/><Relationship Id="rId25" Target="../media/image24.sv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40.png" Type="http://schemas.openxmlformats.org/officeDocument/2006/relationships/image"/><Relationship Id="rId17" Target="../media/image41.svg" Type="http://schemas.openxmlformats.org/officeDocument/2006/relationships/image"/><Relationship Id="rId18" Target="../media/image42.png" Type="http://schemas.openxmlformats.org/officeDocument/2006/relationships/image"/><Relationship Id="rId19" Target="../media/image43.svg" Type="http://schemas.openxmlformats.org/officeDocument/2006/relationships/image"/><Relationship Id="rId2" Target="../media/image1.png" Type="http://schemas.openxmlformats.org/officeDocument/2006/relationships/image"/><Relationship Id="rId20" Target="../media/image44.svg" Type="http://schemas.openxmlformats.org/officeDocument/2006/relationships/image"/><Relationship Id="rId21" Target="../media/image45.svg" Type="http://schemas.openxmlformats.org/officeDocument/2006/relationships/image"/><Relationship Id="rId22" Target="../media/image46.svg" Type="http://schemas.openxmlformats.org/officeDocument/2006/relationships/image"/><Relationship Id="rId23" Target="../media/image47.svg" Type="http://schemas.openxmlformats.org/officeDocument/2006/relationships/image"/><Relationship Id="rId24" Target="../media/image48.png" Type="http://schemas.openxmlformats.org/officeDocument/2006/relationships/image"/><Relationship Id="rId25" Target="../media/image49.svg" Type="http://schemas.openxmlformats.org/officeDocument/2006/relationships/image"/><Relationship Id="rId26" Target="../media/image50.png" Type="http://schemas.openxmlformats.org/officeDocument/2006/relationships/image"/><Relationship Id="rId27" Target="../media/image51.svg" Type="http://schemas.openxmlformats.org/officeDocument/2006/relationships/image"/><Relationship Id="rId28" Target="../media/image52.png" Type="http://schemas.openxmlformats.org/officeDocument/2006/relationships/image"/><Relationship Id="rId29" Target="../media/image53.svg" Type="http://schemas.openxmlformats.org/officeDocument/2006/relationships/image"/><Relationship Id="rId3" Target="../media/image28.svg" Type="http://schemas.openxmlformats.org/officeDocument/2006/relationships/image"/><Relationship Id="rId30" Target="../media/image54.svg" Type="http://schemas.openxmlformats.org/officeDocument/2006/relationships/image"/><Relationship Id="rId31" Target="../media/image55.svg" Type="http://schemas.openxmlformats.org/officeDocument/2006/relationships/image"/><Relationship Id="rId32" Target="../media/image56.svg" Type="http://schemas.openxmlformats.org/officeDocument/2006/relationships/image"/><Relationship Id="rId4" Target="../media/image3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svg" Type="http://schemas.openxmlformats.org/officeDocument/2006/relationships/image"/><Relationship Id="rId19" Target="../media/image45.svg" Type="http://schemas.openxmlformats.org/officeDocument/2006/relationships/image"/><Relationship Id="rId2" Target="../media/image1.png" Type="http://schemas.openxmlformats.org/officeDocument/2006/relationships/image"/><Relationship Id="rId20" Target="../media/image46.svg" Type="http://schemas.openxmlformats.org/officeDocument/2006/relationships/image"/><Relationship Id="rId21" Target="../media/image47.svg" Type="http://schemas.openxmlformats.org/officeDocument/2006/relationships/image"/><Relationship Id="rId22" Target="../media/image57.png" Type="http://schemas.openxmlformats.org/officeDocument/2006/relationships/image"/><Relationship Id="rId23" Target="../media/image58.png" Type="http://schemas.openxmlformats.org/officeDocument/2006/relationships/image"/><Relationship Id="rId24" Target="../media/image59.svg" Type="http://schemas.openxmlformats.org/officeDocument/2006/relationships/image"/><Relationship Id="rId25" Target="../media/image60.svg" Type="http://schemas.openxmlformats.org/officeDocument/2006/relationships/image"/><Relationship Id="rId26" Target="../media/image61.svg" Type="http://schemas.openxmlformats.org/officeDocument/2006/relationships/image"/><Relationship Id="rId27" Target="../media/image62.png" Type="http://schemas.openxmlformats.org/officeDocument/2006/relationships/image"/><Relationship Id="rId28" Target="../media/image63.svg" Type="http://schemas.openxmlformats.org/officeDocument/2006/relationships/image"/><Relationship Id="rId29" Target="../media/image64.svg" Type="http://schemas.openxmlformats.org/officeDocument/2006/relationships/image"/><Relationship Id="rId3" Target="../media/image28.svg" Type="http://schemas.openxmlformats.org/officeDocument/2006/relationships/image"/><Relationship Id="rId30" Target="../media/image65.svg" Type="http://schemas.openxmlformats.org/officeDocument/2006/relationships/image"/><Relationship Id="rId31" Target="../media/image66.png" Type="http://schemas.openxmlformats.org/officeDocument/2006/relationships/image"/><Relationship Id="rId32" Target="../media/image67.svg" Type="http://schemas.openxmlformats.org/officeDocument/2006/relationships/image"/><Relationship Id="rId33" Target="../media/image68.png" Type="http://schemas.openxmlformats.org/officeDocument/2006/relationships/image"/><Relationship Id="rId34" Target="../media/image69.svg" Type="http://schemas.openxmlformats.org/officeDocument/2006/relationships/image"/><Relationship Id="rId35" Target="../media/image70.png" Type="http://schemas.openxmlformats.org/officeDocument/2006/relationships/image"/><Relationship Id="rId36" Target="../media/image71.svg" Type="http://schemas.openxmlformats.org/officeDocument/2006/relationships/image"/><Relationship Id="rId37" Target="../media/image72.png" Type="http://schemas.openxmlformats.org/officeDocument/2006/relationships/image"/><Relationship Id="rId4" Target="../media/image3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svg" Type="http://schemas.openxmlformats.org/officeDocument/2006/relationships/image"/><Relationship Id="rId19" Target="../media/image45.svg" Type="http://schemas.openxmlformats.org/officeDocument/2006/relationships/image"/><Relationship Id="rId2" Target="../media/image1.png" Type="http://schemas.openxmlformats.org/officeDocument/2006/relationships/image"/><Relationship Id="rId20" Target="../media/image46.svg" Type="http://schemas.openxmlformats.org/officeDocument/2006/relationships/image"/><Relationship Id="rId21" Target="../media/image47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4.png" Type="http://schemas.openxmlformats.org/officeDocument/2006/relationships/image"/><Relationship Id="rId9" Target="../media/image7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svg" Type="http://schemas.openxmlformats.org/officeDocument/2006/relationships/image"/><Relationship Id="rId19" Target="../media/image45.svg" Type="http://schemas.openxmlformats.org/officeDocument/2006/relationships/image"/><Relationship Id="rId2" Target="../media/image1.png" Type="http://schemas.openxmlformats.org/officeDocument/2006/relationships/image"/><Relationship Id="rId20" Target="../media/image46.svg" Type="http://schemas.openxmlformats.org/officeDocument/2006/relationships/image"/><Relationship Id="rId21" Target="../media/image78.svg" Type="http://schemas.openxmlformats.org/officeDocument/2006/relationships/image"/><Relationship Id="rId22" Target="../media/image79.png" Type="http://schemas.openxmlformats.org/officeDocument/2006/relationships/image"/><Relationship Id="rId23" Target="../media/image80.png" Type="http://schemas.openxmlformats.org/officeDocument/2006/relationships/image"/><Relationship Id="rId24" Target="../media/image81.sv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76.png" Type="http://schemas.openxmlformats.org/officeDocument/2006/relationships/image"/><Relationship Id="rId8" Target="../media/image34.png" Type="http://schemas.openxmlformats.org/officeDocument/2006/relationships/image"/><Relationship Id="rId9" Target="../media/image7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88.png" Type="http://schemas.openxmlformats.org/officeDocument/2006/relationships/image"/><Relationship Id="rId12" Target="../media/image89.png" Type="http://schemas.openxmlformats.org/officeDocument/2006/relationships/image"/><Relationship Id="rId13" Target="../media/image90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media/image93.png" Type="http://schemas.openxmlformats.org/officeDocument/2006/relationships/image"/><Relationship Id="rId17" Target="../media/image94.svg" Type="http://schemas.openxmlformats.org/officeDocument/2006/relationships/image"/><Relationship Id="rId18" Target="../media/image95.svg" Type="http://schemas.openxmlformats.org/officeDocument/2006/relationships/image"/><Relationship Id="rId19" Target="../media/image96.svg" Type="http://schemas.openxmlformats.org/officeDocument/2006/relationships/image"/><Relationship Id="rId2" Target="../media/image1.png" Type="http://schemas.openxmlformats.org/officeDocument/2006/relationships/image"/><Relationship Id="rId20" Target="../media/image97.svg" Type="http://schemas.openxmlformats.org/officeDocument/2006/relationships/image"/><Relationship Id="rId21" Target="../media/image98.svg" Type="http://schemas.openxmlformats.org/officeDocument/2006/relationships/image"/><Relationship Id="rId22" Target="../media/image99.png" Type="http://schemas.openxmlformats.org/officeDocument/2006/relationships/image"/><Relationship Id="rId3" Target="../media/image82.svg" Type="http://schemas.openxmlformats.org/officeDocument/2006/relationships/image"/><Relationship Id="rId4" Target="../media/image3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pn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svg" Type="http://schemas.openxmlformats.org/officeDocument/2006/relationships/image"/><Relationship Id="rId19" Target="../media/image45.svg" Type="http://schemas.openxmlformats.org/officeDocument/2006/relationships/image"/><Relationship Id="rId2" Target="../media/image1.png" Type="http://schemas.openxmlformats.org/officeDocument/2006/relationships/image"/><Relationship Id="rId20" Target="../media/image46.svg" Type="http://schemas.openxmlformats.org/officeDocument/2006/relationships/image"/><Relationship Id="rId21" Target="../media/image103.svg" Type="http://schemas.openxmlformats.org/officeDocument/2006/relationships/image"/><Relationship Id="rId22" Target="../media/image104.png" Type="http://schemas.openxmlformats.org/officeDocument/2006/relationships/image"/><Relationship Id="rId23" Target="../media/image105.svg" Type="http://schemas.openxmlformats.org/officeDocument/2006/relationships/image"/><Relationship Id="rId24" Target="../media/image106.svg" Type="http://schemas.openxmlformats.org/officeDocument/2006/relationships/image"/><Relationship Id="rId25" Target="../media/image107.svg" Type="http://schemas.openxmlformats.org/officeDocument/2006/relationships/image"/><Relationship Id="rId26" Target="../media/image108.svg" Type="http://schemas.openxmlformats.org/officeDocument/2006/relationships/image"/><Relationship Id="rId27" Target="../media/image109.svg" Type="http://schemas.openxmlformats.org/officeDocument/2006/relationships/image"/><Relationship Id="rId28" Target="../media/image110.svg" Type="http://schemas.openxmlformats.org/officeDocument/2006/relationships/image"/><Relationship Id="rId29" Target="../media/image111.png" Type="http://schemas.openxmlformats.org/officeDocument/2006/relationships/image"/><Relationship Id="rId3" Target="../media/image28.svg" Type="http://schemas.openxmlformats.org/officeDocument/2006/relationships/image"/><Relationship Id="rId30" Target="../media/image112.png" Type="http://schemas.openxmlformats.org/officeDocument/2006/relationships/image"/><Relationship Id="rId31" Target="../media/image113.png" Type="http://schemas.openxmlformats.org/officeDocument/2006/relationships/image"/><Relationship Id="rId32" Target="../media/image114.svg" Type="http://schemas.openxmlformats.org/officeDocument/2006/relationships/image"/><Relationship Id="rId33" Target="../media/image68.png" Type="http://schemas.openxmlformats.org/officeDocument/2006/relationships/image"/><Relationship Id="rId34" Target="../media/image115.svg" Type="http://schemas.openxmlformats.org/officeDocument/2006/relationships/image"/><Relationship Id="rId35" Target="../media/image116.png" Type="http://schemas.openxmlformats.org/officeDocument/2006/relationships/image"/><Relationship Id="rId36" Target="../media/image117.svg" Type="http://schemas.openxmlformats.org/officeDocument/2006/relationships/image"/><Relationship Id="rId37" Target="../media/image118.svg" Type="http://schemas.openxmlformats.org/officeDocument/2006/relationships/image"/><Relationship Id="rId38" Target="../media/image119.png" Type="http://schemas.openxmlformats.org/officeDocument/2006/relationships/image"/><Relationship Id="rId39" Target="../media/image120.svg" Type="http://schemas.openxmlformats.org/officeDocument/2006/relationships/image"/><Relationship Id="rId4" Target="../media/image3.png" Type="http://schemas.openxmlformats.org/officeDocument/2006/relationships/image"/><Relationship Id="rId40" Target="../media/image121.png" Type="http://schemas.openxmlformats.org/officeDocument/2006/relationships/image"/><Relationship Id="rId41" Target="../media/image122.svg" Type="http://schemas.openxmlformats.org/officeDocument/2006/relationships/image"/><Relationship Id="rId42" Target="../media/image123.svg" Type="http://schemas.openxmlformats.org/officeDocument/2006/relationships/image"/><Relationship Id="rId43" Target="../media/image124.sv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100.png" Type="http://schemas.openxmlformats.org/officeDocument/2006/relationships/image"/><Relationship Id="rId8" Target="../media/image101.png" Type="http://schemas.openxmlformats.org/officeDocument/2006/relationships/image"/><Relationship Id="rId9" Target="../media/image10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svg" Type="http://schemas.openxmlformats.org/officeDocument/2006/relationships/image"/><Relationship Id="rId19" Target="../media/image45.svg" Type="http://schemas.openxmlformats.org/officeDocument/2006/relationships/image"/><Relationship Id="rId2" Target="../media/image1.png" Type="http://schemas.openxmlformats.org/officeDocument/2006/relationships/image"/><Relationship Id="rId20" Target="../media/image46.svg" Type="http://schemas.openxmlformats.org/officeDocument/2006/relationships/image"/><Relationship Id="rId21" Target="../media/image47.svg" Type="http://schemas.openxmlformats.org/officeDocument/2006/relationships/image"/><Relationship Id="rId22" Target="../media/image125.png" Type="http://schemas.openxmlformats.org/officeDocument/2006/relationships/image"/><Relationship Id="rId23" Target="../media/image126.png" Type="http://schemas.openxmlformats.org/officeDocument/2006/relationships/image"/><Relationship Id="rId24" Target="../media/image127.svg" Type="http://schemas.openxmlformats.org/officeDocument/2006/relationships/image"/><Relationship Id="rId25" Target="../media/image128.svg" Type="http://schemas.openxmlformats.org/officeDocument/2006/relationships/image"/><Relationship Id="rId26" Target="../media/image129.svg" Type="http://schemas.openxmlformats.org/officeDocument/2006/relationships/image"/><Relationship Id="rId27" Target="../media/image130.svg" Type="http://schemas.openxmlformats.org/officeDocument/2006/relationships/image"/><Relationship Id="rId28" Target="../media/image131.svg" Type="http://schemas.openxmlformats.org/officeDocument/2006/relationships/image"/><Relationship Id="rId29" Target="../media/image132.png" Type="http://schemas.openxmlformats.org/officeDocument/2006/relationships/image"/><Relationship Id="rId3" Target="../media/image28.svg" Type="http://schemas.openxmlformats.org/officeDocument/2006/relationships/image"/><Relationship Id="rId30" Target="../media/image133.svg" Type="http://schemas.openxmlformats.org/officeDocument/2006/relationships/image"/><Relationship Id="rId4" Target="../media/image3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88.png" Type="http://schemas.openxmlformats.org/officeDocument/2006/relationships/image"/><Relationship Id="rId12" Target="../media/image89.png" Type="http://schemas.openxmlformats.org/officeDocument/2006/relationships/image"/><Relationship Id="rId13" Target="../media/image90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media/image93.png" Type="http://schemas.openxmlformats.org/officeDocument/2006/relationships/image"/><Relationship Id="rId17" Target="../media/image94.svg" Type="http://schemas.openxmlformats.org/officeDocument/2006/relationships/image"/><Relationship Id="rId18" Target="../media/image95.svg" Type="http://schemas.openxmlformats.org/officeDocument/2006/relationships/image"/><Relationship Id="rId19" Target="../media/image96.svg" Type="http://schemas.openxmlformats.org/officeDocument/2006/relationships/image"/><Relationship Id="rId2" Target="../media/image1.png" Type="http://schemas.openxmlformats.org/officeDocument/2006/relationships/image"/><Relationship Id="rId20" Target="../media/image97.svg" Type="http://schemas.openxmlformats.org/officeDocument/2006/relationships/image"/><Relationship Id="rId21" Target="../media/image137.svg" Type="http://schemas.openxmlformats.org/officeDocument/2006/relationships/image"/><Relationship Id="rId22" Target="../media/image138.png" Type="http://schemas.openxmlformats.org/officeDocument/2006/relationships/image"/><Relationship Id="rId23" Target="../media/image139.png" Type="http://schemas.openxmlformats.org/officeDocument/2006/relationships/image"/><Relationship Id="rId24" Target="../media/image140.svg" Type="http://schemas.openxmlformats.org/officeDocument/2006/relationships/image"/><Relationship Id="rId25" Target="../media/image141.svg" Type="http://schemas.openxmlformats.org/officeDocument/2006/relationships/image"/><Relationship Id="rId26" Target="../media/image142.svg" Type="http://schemas.openxmlformats.org/officeDocument/2006/relationships/image"/><Relationship Id="rId27" Target="../media/image143.svg" Type="http://schemas.openxmlformats.org/officeDocument/2006/relationships/image"/><Relationship Id="rId28" Target="../media/image144.svg" Type="http://schemas.openxmlformats.org/officeDocument/2006/relationships/image"/><Relationship Id="rId29" Target="../media/image145.svg" Type="http://schemas.openxmlformats.org/officeDocument/2006/relationships/image"/><Relationship Id="rId3" Target="../media/image82.svg" Type="http://schemas.openxmlformats.org/officeDocument/2006/relationships/image"/><Relationship Id="rId30" Target="../media/image146.svg" Type="http://schemas.openxmlformats.org/officeDocument/2006/relationships/image"/><Relationship Id="rId4" Target="../media/image3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135.png" Type="http://schemas.openxmlformats.org/officeDocument/2006/relationships/image"/><Relationship Id="rId8" Target="../media/image86.png" Type="http://schemas.openxmlformats.org/officeDocument/2006/relationships/image"/><Relationship Id="rId9" Target="../media/image1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svg" Type="http://schemas.openxmlformats.org/officeDocument/2006/relationships/image"/><Relationship Id="rId19" Target="../media/image45.svg" Type="http://schemas.openxmlformats.org/officeDocument/2006/relationships/image"/><Relationship Id="rId2" Target="../media/image1.png" Type="http://schemas.openxmlformats.org/officeDocument/2006/relationships/image"/><Relationship Id="rId20" Target="../media/image46.svg" Type="http://schemas.openxmlformats.org/officeDocument/2006/relationships/image"/><Relationship Id="rId21" Target="../media/image149.svg" Type="http://schemas.openxmlformats.org/officeDocument/2006/relationships/image"/><Relationship Id="rId22" Target="../media/image150.png" Type="http://schemas.openxmlformats.org/officeDocument/2006/relationships/image"/><Relationship Id="rId23" Target="../media/image151.svg" Type="http://schemas.openxmlformats.org/officeDocument/2006/relationships/image"/><Relationship Id="rId24" Target="../media/image152.png" Type="http://schemas.openxmlformats.org/officeDocument/2006/relationships/image"/><Relationship Id="rId25" Target="../media/image153.svg" Type="http://schemas.openxmlformats.org/officeDocument/2006/relationships/image"/><Relationship Id="rId26" Target="../media/image154.png" Type="http://schemas.openxmlformats.org/officeDocument/2006/relationships/image"/><Relationship Id="rId27" Target="../media/image155.svg" Type="http://schemas.openxmlformats.org/officeDocument/2006/relationships/image"/><Relationship Id="rId28" Target="../media/image156.png" Type="http://schemas.openxmlformats.org/officeDocument/2006/relationships/image"/><Relationship Id="rId29" Target="../media/image157.svg" Type="http://schemas.openxmlformats.org/officeDocument/2006/relationships/image"/><Relationship Id="rId3" Target="../media/image28.svg" Type="http://schemas.openxmlformats.org/officeDocument/2006/relationships/image"/><Relationship Id="rId30" Target="../media/image158.png" Type="http://schemas.openxmlformats.org/officeDocument/2006/relationships/image"/><Relationship Id="rId31" Target="../media/image159.svg" Type="http://schemas.openxmlformats.org/officeDocument/2006/relationships/image"/><Relationship Id="rId32" Target="../media/image160.png" Type="http://schemas.openxmlformats.org/officeDocument/2006/relationships/image"/><Relationship Id="rId33" Target="../media/image161.svg" Type="http://schemas.openxmlformats.org/officeDocument/2006/relationships/image"/><Relationship Id="rId34" Target="../media/image162.png" Type="http://schemas.openxmlformats.org/officeDocument/2006/relationships/image"/><Relationship Id="rId35" Target="../media/image163.svg" Type="http://schemas.openxmlformats.org/officeDocument/2006/relationships/image"/><Relationship Id="rId36" Target="../media/image164.png" Type="http://schemas.openxmlformats.org/officeDocument/2006/relationships/image"/><Relationship Id="rId37" Target="../media/image165.svg" Type="http://schemas.openxmlformats.org/officeDocument/2006/relationships/image"/><Relationship Id="rId38" Target="../media/image166.png" Type="http://schemas.openxmlformats.org/officeDocument/2006/relationships/image"/><Relationship Id="rId39" Target="../media/image167.svg" Type="http://schemas.openxmlformats.org/officeDocument/2006/relationships/image"/><Relationship Id="rId4" Target="../media/image3.png" Type="http://schemas.openxmlformats.org/officeDocument/2006/relationships/image"/><Relationship Id="rId40" Target="../media/image168.png" Type="http://schemas.openxmlformats.org/officeDocument/2006/relationships/image"/><Relationship Id="rId41" Target="../media/image169.svg" Type="http://schemas.openxmlformats.org/officeDocument/2006/relationships/image"/><Relationship Id="rId42" Target="../media/image170.png" Type="http://schemas.openxmlformats.org/officeDocument/2006/relationships/image"/><Relationship Id="rId43" Target="../media/image171.svg" Type="http://schemas.openxmlformats.org/officeDocument/2006/relationships/image"/><Relationship Id="rId44" Target="../media/image172.png" Type="http://schemas.openxmlformats.org/officeDocument/2006/relationships/image"/><Relationship Id="rId45" Target="../media/image173.svg" Type="http://schemas.openxmlformats.org/officeDocument/2006/relationships/image"/><Relationship Id="rId46" Target="../media/image174.png" Type="http://schemas.openxmlformats.org/officeDocument/2006/relationships/image"/><Relationship Id="rId47" Target="../media/image175.svg" Type="http://schemas.openxmlformats.org/officeDocument/2006/relationships/image"/><Relationship Id="rId48" Target="../media/image176.png" Type="http://schemas.openxmlformats.org/officeDocument/2006/relationships/image"/><Relationship Id="rId49" Target="../media/image177.svg" Type="http://schemas.openxmlformats.org/officeDocument/2006/relationships/image"/><Relationship Id="rId5" Target="../media/image29.svg" Type="http://schemas.openxmlformats.org/officeDocument/2006/relationships/image"/><Relationship Id="rId50" Target="../media/image178.png" Type="http://schemas.openxmlformats.org/officeDocument/2006/relationships/image"/><Relationship Id="rId51" Target="../media/image179.svg" Type="http://schemas.openxmlformats.org/officeDocument/2006/relationships/image"/><Relationship Id="rId52" Target="../media/image180.png" Type="http://schemas.openxmlformats.org/officeDocument/2006/relationships/image"/><Relationship Id="rId53" Target="../media/image181.svg" Type="http://schemas.openxmlformats.org/officeDocument/2006/relationships/image"/><Relationship Id="rId54" Target="../media/image182.png" Type="http://schemas.openxmlformats.org/officeDocument/2006/relationships/image"/><Relationship Id="rId55" Target="../media/image183.svg" Type="http://schemas.openxmlformats.org/officeDocument/2006/relationships/image"/><Relationship Id="rId56" Target="../media/image184.png" Type="http://schemas.openxmlformats.org/officeDocument/2006/relationships/image"/><Relationship Id="rId57" Target="../media/image185.svg" Type="http://schemas.openxmlformats.org/officeDocument/2006/relationships/image"/><Relationship Id="rId58" Target="../media/image186.png" Type="http://schemas.openxmlformats.org/officeDocument/2006/relationships/image"/><Relationship Id="rId59" Target="../media/image187.svg" Type="http://schemas.openxmlformats.org/officeDocument/2006/relationships/image"/><Relationship Id="rId6" Target="../media/image30.png" Type="http://schemas.openxmlformats.org/officeDocument/2006/relationships/image"/><Relationship Id="rId60" Target="../media/image188.png" Type="http://schemas.openxmlformats.org/officeDocument/2006/relationships/image"/><Relationship Id="rId61" Target="../media/image189.svg" Type="http://schemas.openxmlformats.org/officeDocument/2006/relationships/image"/><Relationship Id="rId62" Target="../media/image190.png" Type="http://schemas.openxmlformats.org/officeDocument/2006/relationships/image"/><Relationship Id="rId63" Target="../media/image191.svg" Type="http://schemas.openxmlformats.org/officeDocument/2006/relationships/image"/><Relationship Id="rId64" Target="../media/image192.png" Type="http://schemas.openxmlformats.org/officeDocument/2006/relationships/image"/><Relationship Id="rId65" Target="../media/image193.svg" Type="http://schemas.openxmlformats.org/officeDocument/2006/relationships/image"/><Relationship Id="rId66" Target="../media/image194.png" Type="http://schemas.openxmlformats.org/officeDocument/2006/relationships/image"/><Relationship Id="rId67" Target="../media/image195.svg" Type="http://schemas.openxmlformats.org/officeDocument/2006/relationships/image"/><Relationship Id="rId68" Target="../media/image196.png" Type="http://schemas.openxmlformats.org/officeDocument/2006/relationships/image"/><Relationship Id="rId69" Target="../media/image197.svg" Type="http://schemas.openxmlformats.org/officeDocument/2006/relationships/image"/><Relationship Id="rId7" Target="../media/image31.png" Type="http://schemas.openxmlformats.org/officeDocument/2006/relationships/image"/><Relationship Id="rId70" Target="../media/image198.png" Type="http://schemas.openxmlformats.org/officeDocument/2006/relationships/image"/><Relationship Id="rId71" Target="../media/image199.svg" Type="http://schemas.openxmlformats.org/officeDocument/2006/relationships/image"/><Relationship Id="rId72" Target="../media/image200.png" Type="http://schemas.openxmlformats.org/officeDocument/2006/relationships/image"/><Relationship Id="rId73" Target="../media/image201.svg" Type="http://schemas.openxmlformats.org/officeDocument/2006/relationships/image"/><Relationship Id="rId74" Target="../media/image202.svg" Type="http://schemas.openxmlformats.org/officeDocument/2006/relationships/image"/><Relationship Id="rId8" Target="../media/image34.png" Type="http://schemas.openxmlformats.org/officeDocument/2006/relationships/image"/><Relationship Id="rId9" Target="../media/image14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svg" Type="http://schemas.openxmlformats.org/officeDocument/2006/relationships/image"/><Relationship Id="rId19" Target="../media/image45.svg" Type="http://schemas.openxmlformats.org/officeDocument/2006/relationships/image"/><Relationship Id="rId2" Target="../media/image1.png" Type="http://schemas.openxmlformats.org/officeDocument/2006/relationships/image"/><Relationship Id="rId20" Target="../media/image46.svg" Type="http://schemas.openxmlformats.org/officeDocument/2006/relationships/image"/><Relationship Id="rId21" Target="../media/image205.svg" Type="http://schemas.openxmlformats.org/officeDocument/2006/relationships/image"/><Relationship Id="rId22" Target="../media/image206.png" Type="http://schemas.openxmlformats.org/officeDocument/2006/relationships/image"/><Relationship Id="rId23" Target="../media/image207.svg" Type="http://schemas.openxmlformats.org/officeDocument/2006/relationships/image"/><Relationship Id="rId24" Target="../media/image208.png" Type="http://schemas.openxmlformats.org/officeDocument/2006/relationships/image"/><Relationship Id="rId25" Target="../media/image209.svg" Type="http://schemas.openxmlformats.org/officeDocument/2006/relationships/image"/><Relationship Id="rId26" Target="../media/image210.png" Type="http://schemas.openxmlformats.org/officeDocument/2006/relationships/image"/><Relationship Id="rId27" Target="../media/image211.svg" Type="http://schemas.openxmlformats.org/officeDocument/2006/relationships/image"/><Relationship Id="rId28" Target="../media/image212.png" Type="http://schemas.openxmlformats.org/officeDocument/2006/relationships/image"/><Relationship Id="rId29" Target="../media/image213.svg" Type="http://schemas.openxmlformats.org/officeDocument/2006/relationships/image"/><Relationship Id="rId3" Target="../media/image28.svg" Type="http://schemas.openxmlformats.org/officeDocument/2006/relationships/image"/><Relationship Id="rId30" Target="../media/image214.png" Type="http://schemas.openxmlformats.org/officeDocument/2006/relationships/image"/><Relationship Id="rId31" Target="../media/image215.svg" Type="http://schemas.openxmlformats.org/officeDocument/2006/relationships/image"/><Relationship Id="rId32" Target="../media/image216.svg" Type="http://schemas.openxmlformats.org/officeDocument/2006/relationships/image"/><Relationship Id="rId33" Target="../media/image217.png" Type="http://schemas.openxmlformats.org/officeDocument/2006/relationships/image"/><Relationship Id="rId34" Target="../media/image218.svg" Type="http://schemas.openxmlformats.org/officeDocument/2006/relationships/image"/><Relationship Id="rId35" Target="../media/image219.png" Type="http://schemas.openxmlformats.org/officeDocument/2006/relationships/image"/><Relationship Id="rId36" Target="../media/image220.svg" Type="http://schemas.openxmlformats.org/officeDocument/2006/relationships/image"/><Relationship Id="rId37" Target="../media/image221.png" Type="http://schemas.openxmlformats.org/officeDocument/2006/relationships/image"/><Relationship Id="rId38" Target="../media/image222.svg" Type="http://schemas.openxmlformats.org/officeDocument/2006/relationships/image"/><Relationship Id="rId39" Target="../media/image223.svg" Type="http://schemas.openxmlformats.org/officeDocument/2006/relationships/image"/><Relationship Id="rId4" Target="../media/image3.png" Type="http://schemas.openxmlformats.org/officeDocument/2006/relationships/image"/><Relationship Id="rId40" Target="../media/image224.png" Type="http://schemas.openxmlformats.org/officeDocument/2006/relationships/image"/><Relationship Id="rId41" Target="../media/image225.svg" Type="http://schemas.openxmlformats.org/officeDocument/2006/relationships/image"/><Relationship Id="rId42" Target="../media/image226.png" Type="http://schemas.openxmlformats.org/officeDocument/2006/relationships/image"/><Relationship Id="rId43" Target="../media/image227.svg" Type="http://schemas.openxmlformats.org/officeDocument/2006/relationships/image"/><Relationship Id="rId44" Target="../media/image228.png" Type="http://schemas.openxmlformats.org/officeDocument/2006/relationships/image"/><Relationship Id="rId45" Target="../media/image229.svg" Type="http://schemas.openxmlformats.org/officeDocument/2006/relationships/image"/><Relationship Id="rId46" Target="../media/image230.svg" Type="http://schemas.openxmlformats.org/officeDocument/2006/relationships/image"/><Relationship Id="rId47" Target="../media/image231.png" Type="http://schemas.openxmlformats.org/officeDocument/2006/relationships/image"/><Relationship Id="rId48" Target="../media/image232.svg" Type="http://schemas.openxmlformats.org/officeDocument/2006/relationships/image"/><Relationship Id="rId49" Target="../media/image233.png" Type="http://schemas.openxmlformats.org/officeDocument/2006/relationships/image"/><Relationship Id="rId5" Target="../media/image29.svg" Type="http://schemas.openxmlformats.org/officeDocument/2006/relationships/image"/><Relationship Id="rId50" Target="../media/image234.svg" Type="http://schemas.openxmlformats.org/officeDocument/2006/relationships/image"/><Relationship Id="rId51" Target="../media/image235.png" Type="http://schemas.openxmlformats.org/officeDocument/2006/relationships/image"/><Relationship Id="rId52" Target="../media/image236.svg" Type="http://schemas.openxmlformats.org/officeDocument/2006/relationships/image"/><Relationship Id="rId53" Target="../media/image237.svg" Type="http://schemas.openxmlformats.org/officeDocument/2006/relationships/image"/><Relationship Id="rId54" Target="../media/image238.png" Type="http://schemas.openxmlformats.org/officeDocument/2006/relationships/image"/><Relationship Id="rId55" Target="../media/image239.svg" Type="http://schemas.openxmlformats.org/officeDocument/2006/relationships/image"/><Relationship Id="rId56" Target="../media/image240.png" Type="http://schemas.openxmlformats.org/officeDocument/2006/relationships/image"/><Relationship Id="rId57" Target="../media/image241.svg" Type="http://schemas.openxmlformats.org/officeDocument/2006/relationships/image"/><Relationship Id="rId58" Target="../media/image242.png" Type="http://schemas.openxmlformats.org/officeDocument/2006/relationships/image"/><Relationship Id="rId59" Target="../media/image243.svg" Type="http://schemas.openxmlformats.org/officeDocument/2006/relationships/image"/><Relationship Id="rId6" Target="../media/image30.png" Type="http://schemas.openxmlformats.org/officeDocument/2006/relationships/image"/><Relationship Id="rId60" Target="../media/image244.png" Type="http://schemas.openxmlformats.org/officeDocument/2006/relationships/image"/><Relationship Id="rId61" Target="../media/image245.svg" Type="http://schemas.openxmlformats.org/officeDocument/2006/relationships/image"/><Relationship Id="rId62" Target="../media/image246.png" Type="http://schemas.openxmlformats.org/officeDocument/2006/relationships/image"/><Relationship Id="rId63" Target="../media/image247.svg" Type="http://schemas.openxmlformats.org/officeDocument/2006/relationships/image"/><Relationship Id="rId64" Target="../media/image248.png" Type="http://schemas.openxmlformats.org/officeDocument/2006/relationships/image"/><Relationship Id="rId65" Target="../media/image249.svg" Type="http://schemas.openxmlformats.org/officeDocument/2006/relationships/image"/><Relationship Id="rId66" Target="../media/image250.png" Type="http://schemas.openxmlformats.org/officeDocument/2006/relationships/image"/><Relationship Id="rId67" Target="../media/image251.svg" Type="http://schemas.openxmlformats.org/officeDocument/2006/relationships/image"/><Relationship Id="rId68" Target="../media/image252.png" Type="http://schemas.openxmlformats.org/officeDocument/2006/relationships/image"/><Relationship Id="rId69" Target="../media/image253.svg" Type="http://schemas.openxmlformats.org/officeDocument/2006/relationships/image"/><Relationship Id="rId7" Target="../media/image31.png" Type="http://schemas.openxmlformats.org/officeDocument/2006/relationships/image"/><Relationship Id="rId70" Target="../media/image254.png" Type="http://schemas.openxmlformats.org/officeDocument/2006/relationships/image"/><Relationship Id="rId71" Target="../media/image255.svg" Type="http://schemas.openxmlformats.org/officeDocument/2006/relationships/image"/><Relationship Id="rId72" Target="../media/image256.png" Type="http://schemas.openxmlformats.org/officeDocument/2006/relationships/image"/><Relationship Id="rId73" Target="../media/image257.svg" Type="http://schemas.openxmlformats.org/officeDocument/2006/relationships/image"/><Relationship Id="rId74" Target="../media/image258.svg" Type="http://schemas.openxmlformats.org/officeDocument/2006/relationships/image"/><Relationship Id="rId75" Target="../media/image259.svg" Type="http://schemas.openxmlformats.org/officeDocument/2006/relationships/image"/><Relationship Id="rId8" Target="../media/image34.png" Type="http://schemas.openxmlformats.org/officeDocument/2006/relationships/image"/><Relationship Id="rId9" Target="../media/image20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svg" Type="http://schemas.openxmlformats.org/officeDocument/2006/relationships/image"/><Relationship Id="rId19" Target="../media/image45.svg" Type="http://schemas.openxmlformats.org/officeDocument/2006/relationships/image"/><Relationship Id="rId2" Target="../media/image1.png" Type="http://schemas.openxmlformats.org/officeDocument/2006/relationships/image"/><Relationship Id="rId20" Target="../media/image46.svg" Type="http://schemas.openxmlformats.org/officeDocument/2006/relationships/image"/><Relationship Id="rId21" Target="../media/image47.svg" Type="http://schemas.openxmlformats.org/officeDocument/2006/relationships/image"/><Relationship Id="rId22" Target="../media/image68.png" Type="http://schemas.openxmlformats.org/officeDocument/2006/relationships/image"/><Relationship Id="rId23" Target="../media/image260.svg" Type="http://schemas.openxmlformats.org/officeDocument/2006/relationships/image"/><Relationship Id="rId24" Target="../media/image121.png" Type="http://schemas.openxmlformats.org/officeDocument/2006/relationships/image"/><Relationship Id="rId25" Target="../media/image261.svg" Type="http://schemas.openxmlformats.org/officeDocument/2006/relationships/image"/><Relationship Id="rId26" Target="../media/image262.png" Type="http://schemas.openxmlformats.org/officeDocument/2006/relationships/image"/><Relationship Id="rId27" Target="../media/image263.svg" Type="http://schemas.openxmlformats.org/officeDocument/2006/relationships/image"/><Relationship Id="rId28" Target="../media/image264.svg" Type="http://schemas.openxmlformats.org/officeDocument/2006/relationships/image"/><Relationship Id="rId29" Target="../media/image265.png" Type="http://schemas.openxmlformats.org/officeDocument/2006/relationships/image"/><Relationship Id="rId3" Target="../media/image28.svg" Type="http://schemas.openxmlformats.org/officeDocument/2006/relationships/image"/><Relationship Id="rId30" Target="../media/image266.svg" Type="http://schemas.openxmlformats.org/officeDocument/2006/relationships/image"/><Relationship Id="rId31" Target="../media/image267.png" Type="http://schemas.openxmlformats.org/officeDocument/2006/relationships/image"/><Relationship Id="rId32" Target="../media/image268.svg" Type="http://schemas.openxmlformats.org/officeDocument/2006/relationships/image"/><Relationship Id="rId33" Target="../media/image269.png" Type="http://schemas.openxmlformats.org/officeDocument/2006/relationships/image"/><Relationship Id="rId34" Target="../media/image270.svg" Type="http://schemas.openxmlformats.org/officeDocument/2006/relationships/image"/><Relationship Id="rId35" Target="../media/image271.png" Type="http://schemas.openxmlformats.org/officeDocument/2006/relationships/image"/><Relationship Id="rId36" Target="../media/image272.svg" Type="http://schemas.openxmlformats.org/officeDocument/2006/relationships/image"/><Relationship Id="rId4" Target="../media/image3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svg" Type="http://schemas.openxmlformats.org/officeDocument/2006/relationships/image"/><Relationship Id="rId19" Target="../media/image45.svg" Type="http://schemas.openxmlformats.org/officeDocument/2006/relationships/image"/><Relationship Id="rId2" Target="../media/image1.png" Type="http://schemas.openxmlformats.org/officeDocument/2006/relationships/image"/><Relationship Id="rId20" Target="../media/image46.svg" Type="http://schemas.openxmlformats.org/officeDocument/2006/relationships/image"/><Relationship Id="rId21" Target="../media/image47.svg" Type="http://schemas.openxmlformats.org/officeDocument/2006/relationships/image"/><Relationship Id="rId22" Target="../media/image273.png" Type="http://schemas.openxmlformats.org/officeDocument/2006/relationships/image"/><Relationship Id="rId23" Target="../media/image274.sv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277.svg" Type="http://schemas.openxmlformats.org/officeDocument/2006/relationships/image"/><Relationship Id="rId14" Target="../media/image14.png" Type="http://schemas.openxmlformats.org/officeDocument/2006/relationships/image"/><Relationship Id="rId15" Target="../media/image278.svg" Type="http://schemas.openxmlformats.org/officeDocument/2006/relationships/image"/><Relationship Id="rId16" Target="../media/image279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19" Target="../media/image19.png" Type="http://schemas.openxmlformats.org/officeDocument/2006/relationships/image"/><Relationship Id="rId2" Target="../media/image1.png" Type="http://schemas.openxmlformats.org/officeDocument/2006/relationships/image"/><Relationship Id="rId20" Target="../media/image20.svg" Type="http://schemas.openxmlformats.org/officeDocument/2006/relationships/image"/><Relationship Id="rId21" Target="../media/image21.png" Type="http://schemas.openxmlformats.org/officeDocument/2006/relationships/image"/><Relationship Id="rId22" Target="../media/image22.svg" Type="http://schemas.openxmlformats.org/officeDocument/2006/relationships/image"/><Relationship Id="rId23" Target="../media/image23.svg" Type="http://schemas.openxmlformats.org/officeDocument/2006/relationships/image"/><Relationship Id="rId24" Target="../media/image24.svg" Type="http://schemas.openxmlformats.org/officeDocument/2006/relationships/image"/><Relationship Id="rId25" Target="../media/image25.svg" Type="http://schemas.openxmlformats.org/officeDocument/2006/relationships/image"/><Relationship Id="rId26" Target="../media/image280.png" Type="http://schemas.openxmlformats.org/officeDocument/2006/relationships/image"/><Relationship Id="rId27" Target="../media/image281.png" Type="http://schemas.openxmlformats.org/officeDocument/2006/relationships/image"/><Relationship Id="rId28" Target="../media/image28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275.png" Type="http://schemas.openxmlformats.org/officeDocument/2006/relationships/image"/><Relationship Id="rId9" Target="../media/image27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62116" y="-657"/>
            <a:ext cx="7229475" cy="3533775"/>
            <a:chOff x="0" y="0"/>
            <a:chExt cx="9639300" cy="4711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39300" cy="4711700"/>
            </a:xfrm>
            <a:custGeom>
              <a:avLst/>
              <a:gdLst/>
              <a:ahLst/>
              <a:cxnLst/>
              <a:rect r="r" b="b" t="t" l="l"/>
              <a:pathLst>
                <a:path h="4711700" w="9639300">
                  <a:moveTo>
                    <a:pt x="0" y="0"/>
                  </a:moveTo>
                  <a:lnTo>
                    <a:pt x="9639300" y="0"/>
                  </a:lnTo>
                  <a:lnTo>
                    <a:pt x="9639300" y="4711700"/>
                  </a:lnTo>
                  <a:lnTo>
                    <a:pt x="0" y="471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29" y="6843046"/>
            <a:ext cx="8153400" cy="3448050"/>
            <a:chOff x="0" y="0"/>
            <a:chExt cx="10871200" cy="4597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712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10871200">
                  <a:moveTo>
                    <a:pt x="0" y="0"/>
                  </a:moveTo>
                  <a:lnTo>
                    <a:pt x="10871200" y="0"/>
                  </a:lnTo>
                  <a:lnTo>
                    <a:pt x="10871200" y="4597400"/>
                  </a:lnTo>
                  <a:lnTo>
                    <a:pt x="0" y="459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15105" y="2855624"/>
            <a:ext cx="1781175" cy="1781175"/>
            <a:chOff x="0" y="0"/>
            <a:chExt cx="2374900" cy="2374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4900" cy="2374900"/>
            </a:xfrm>
            <a:custGeom>
              <a:avLst/>
              <a:gdLst/>
              <a:ahLst/>
              <a:cxnLst/>
              <a:rect r="r" b="b" t="t" l="l"/>
              <a:pathLst>
                <a:path h="2374900" w="2374900">
                  <a:moveTo>
                    <a:pt x="0" y="0"/>
                  </a:moveTo>
                  <a:lnTo>
                    <a:pt x="2374900" y="0"/>
                  </a:lnTo>
                  <a:lnTo>
                    <a:pt x="2374900" y="2374900"/>
                  </a:lnTo>
                  <a:lnTo>
                    <a:pt x="0" y="237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25" t="-225" r="-309" b="-309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447233" y="4357821"/>
            <a:ext cx="866775" cy="866775"/>
          </a:xfrm>
          <a:custGeom>
            <a:avLst/>
            <a:gdLst/>
            <a:ahLst/>
            <a:cxnLst/>
            <a:rect r="r" b="b" t="t" l="l"/>
            <a:pathLst>
              <a:path h="866775" w="866775">
                <a:moveTo>
                  <a:pt x="0" y="0"/>
                </a:moveTo>
                <a:lnTo>
                  <a:pt x="866775" y="0"/>
                </a:lnTo>
                <a:lnTo>
                  <a:pt x="8667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137649" y="9258300"/>
            <a:ext cx="7153275" cy="1028700"/>
            <a:chOff x="0" y="0"/>
            <a:chExt cx="9537700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377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537700">
                  <a:moveTo>
                    <a:pt x="0" y="0"/>
                  </a:moveTo>
                  <a:lnTo>
                    <a:pt x="9537700" y="0"/>
                  </a:lnTo>
                  <a:lnTo>
                    <a:pt x="95377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4286" y="0"/>
            <a:ext cx="6315075" cy="1028700"/>
            <a:chOff x="0" y="0"/>
            <a:chExt cx="8420100" cy="137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201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420100">
                  <a:moveTo>
                    <a:pt x="0" y="0"/>
                  </a:moveTo>
                  <a:lnTo>
                    <a:pt x="8420100" y="0"/>
                  </a:lnTo>
                  <a:lnTo>
                    <a:pt x="84201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20" t="0" r="-2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623685" y="5521195"/>
            <a:ext cx="5857875" cy="85725"/>
          </a:xfrm>
          <a:custGeom>
            <a:avLst/>
            <a:gdLst/>
            <a:ahLst/>
            <a:cxnLst/>
            <a:rect r="r" b="b" t="t" l="l"/>
            <a:pathLst>
              <a:path h="85725" w="5857875">
                <a:moveTo>
                  <a:pt x="0" y="0"/>
                </a:moveTo>
                <a:lnTo>
                  <a:pt x="5857875" y="0"/>
                </a:lnTo>
                <a:lnTo>
                  <a:pt x="5857875" y="85725"/>
                </a:ln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06503" y="5392607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455843" y="5392607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1512" y="1779318"/>
            <a:ext cx="28575" cy="4314825"/>
          </a:xfrm>
          <a:custGeom>
            <a:avLst/>
            <a:gdLst/>
            <a:ahLst/>
            <a:cxnLst/>
            <a:rect r="r" b="b" t="t" l="l"/>
            <a:pathLst>
              <a:path h="4314825" w="28575">
                <a:moveTo>
                  <a:pt x="0" y="0"/>
                </a:moveTo>
                <a:lnTo>
                  <a:pt x="28575" y="0"/>
                </a:lnTo>
                <a:lnTo>
                  <a:pt x="28575" y="4314825"/>
                </a:lnTo>
                <a:lnTo>
                  <a:pt x="0" y="43148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287837" y="4399540"/>
            <a:ext cx="28575" cy="4314825"/>
          </a:xfrm>
          <a:custGeom>
            <a:avLst/>
            <a:gdLst/>
            <a:ahLst/>
            <a:cxnLst/>
            <a:rect r="r" b="b" t="t" l="l"/>
            <a:pathLst>
              <a:path h="4314825" w="28575">
                <a:moveTo>
                  <a:pt x="0" y="0"/>
                </a:moveTo>
                <a:lnTo>
                  <a:pt x="28575" y="0"/>
                </a:lnTo>
                <a:lnTo>
                  <a:pt x="28575" y="4314825"/>
                </a:lnTo>
                <a:lnTo>
                  <a:pt x="0" y="43148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020292" y="2437762"/>
            <a:ext cx="1095375" cy="1095375"/>
          </a:xfrm>
          <a:custGeom>
            <a:avLst/>
            <a:gdLst/>
            <a:ahLst/>
            <a:cxnLst/>
            <a:rect r="r" b="b" t="t" l="l"/>
            <a:pathLst>
              <a:path h="1095375" w="1095375">
                <a:moveTo>
                  <a:pt x="0" y="0"/>
                </a:moveTo>
                <a:lnTo>
                  <a:pt x="1095375" y="0"/>
                </a:lnTo>
                <a:lnTo>
                  <a:pt x="1095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111142" y="2851661"/>
            <a:ext cx="1790700" cy="1790700"/>
            <a:chOff x="5486812" y="3807496"/>
            <a:chExt cx="2377034" cy="23770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6" y="2"/>
              <a:ext cx="2377034" cy="2377021"/>
            </a:xfrm>
            <a:custGeom>
              <a:avLst/>
              <a:gdLst/>
              <a:ahLst/>
              <a:cxnLst/>
              <a:rect r="r" b="b" t="t" l="l"/>
              <a:pathLst>
                <a:path h="2377021" w="2377034">
                  <a:moveTo>
                    <a:pt x="2377034" y="0"/>
                  </a:moveTo>
                  <a:lnTo>
                    <a:pt x="2377034" y="2377021"/>
                  </a:lnTo>
                  <a:lnTo>
                    <a:pt x="0" y="2377021"/>
                  </a:lnTo>
                  <a:lnTo>
                    <a:pt x="0" y="0"/>
                  </a:lnTo>
                  <a:lnTo>
                    <a:pt x="237703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447262" y="4357849"/>
            <a:ext cx="866775" cy="866775"/>
            <a:chOff x="17932327" y="5813104"/>
            <a:chExt cx="1150417" cy="115041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-3" y="3"/>
              <a:ext cx="1150429" cy="1150417"/>
            </a:xfrm>
            <a:custGeom>
              <a:avLst/>
              <a:gdLst/>
              <a:ahLst/>
              <a:cxnLst/>
              <a:rect r="r" b="b" t="t" l="l"/>
              <a:pathLst>
                <a:path h="1150417" w="1150429">
                  <a:moveTo>
                    <a:pt x="1150429" y="0"/>
                  </a:moveTo>
                  <a:lnTo>
                    <a:pt x="1150429" y="1150417"/>
                  </a:lnTo>
                  <a:lnTo>
                    <a:pt x="0" y="1150417"/>
                  </a:lnTo>
                  <a:lnTo>
                    <a:pt x="0" y="0"/>
                  </a:lnTo>
                  <a:lnTo>
                    <a:pt x="115042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1550" y="1670971"/>
            <a:ext cx="28575" cy="4533900"/>
            <a:chOff x="1295400" y="2229501"/>
            <a:chExt cx="38100" cy="60421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-3"/>
              <a:ext cx="38100" cy="6042129"/>
            </a:xfrm>
            <a:custGeom>
              <a:avLst/>
              <a:gdLst/>
              <a:ahLst/>
              <a:cxnLst/>
              <a:rect r="r" b="b" t="t" l="l"/>
              <a:pathLst>
                <a:path h="6042129" w="38100">
                  <a:moveTo>
                    <a:pt x="38100" y="0"/>
                  </a:moveTo>
                  <a:lnTo>
                    <a:pt x="38100" y="6042129"/>
                  </a:lnTo>
                  <a:lnTo>
                    <a:pt x="0" y="6042129"/>
                  </a:lnTo>
                  <a:lnTo>
                    <a:pt x="0" y="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020311" y="2437781"/>
            <a:ext cx="1095375" cy="1095375"/>
            <a:chOff x="4027847" y="3251143"/>
            <a:chExt cx="1458963" cy="14589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-3" y="-6"/>
              <a:ext cx="1458963" cy="1458976"/>
            </a:xfrm>
            <a:custGeom>
              <a:avLst/>
              <a:gdLst/>
              <a:ahLst/>
              <a:cxnLst/>
              <a:rect r="r" b="b" t="t" l="l"/>
              <a:pathLst>
                <a:path h="1458976" w="1458963">
                  <a:moveTo>
                    <a:pt x="1458963" y="0"/>
                  </a:moveTo>
                  <a:lnTo>
                    <a:pt x="1458963" y="1458976"/>
                  </a:lnTo>
                  <a:lnTo>
                    <a:pt x="0" y="1458976"/>
                  </a:lnTo>
                  <a:lnTo>
                    <a:pt x="0" y="0"/>
                  </a:lnTo>
                  <a:lnTo>
                    <a:pt x="145896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287875" y="4291193"/>
            <a:ext cx="28575" cy="4533900"/>
            <a:chOff x="23050500" y="5723129"/>
            <a:chExt cx="38100" cy="60421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100" cy="6042126"/>
            </a:xfrm>
            <a:custGeom>
              <a:avLst/>
              <a:gdLst/>
              <a:ahLst/>
              <a:cxnLst/>
              <a:rect r="r" b="b" t="t" l="l"/>
              <a:pathLst>
                <a:path h="6042126" w="38100">
                  <a:moveTo>
                    <a:pt x="38100" y="0"/>
                  </a:moveTo>
                  <a:lnTo>
                    <a:pt x="38100" y="6042126"/>
                  </a:lnTo>
                  <a:lnTo>
                    <a:pt x="0" y="6042126"/>
                  </a:lnTo>
                  <a:lnTo>
                    <a:pt x="0" y="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304597" y="5520242"/>
            <a:ext cx="6496050" cy="504825"/>
            <a:chOff x="8408672" y="7361592"/>
            <a:chExt cx="8656320" cy="670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-2" y="1"/>
              <a:ext cx="8656319" cy="670560"/>
            </a:xfrm>
            <a:custGeom>
              <a:avLst/>
              <a:gdLst/>
              <a:ahLst/>
              <a:cxnLst/>
              <a:rect r="r" b="b" t="t" l="l"/>
              <a:pathLst>
                <a:path h="670560" w="8656319">
                  <a:moveTo>
                    <a:pt x="8656319" y="0"/>
                  </a:moveTo>
                  <a:lnTo>
                    <a:pt x="8656319" y="670560"/>
                  </a:lnTo>
                  <a:lnTo>
                    <a:pt x="0" y="670560"/>
                  </a:lnTo>
                  <a:lnTo>
                    <a:pt x="0" y="0"/>
                  </a:lnTo>
                  <a:lnTo>
                    <a:pt x="865631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4421143" y="893255"/>
            <a:ext cx="10539203" cy="612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</a:pPr>
            <a:r>
              <a:rPr lang="en-US" sz="8456">
                <a:solidFill>
                  <a:srgbClr val="244B85"/>
                </a:solidFill>
                <a:latin typeface="Arbutus Slab"/>
                <a:ea typeface="Arbutus Slab"/>
                <a:cs typeface="Arbutus Slab"/>
                <a:sym typeface="Arbutus Slab"/>
              </a:rPr>
              <a:t>SMART HEALTHCARE ANALYTICS DASHBOARD</a:t>
            </a:r>
          </a:p>
          <a:p>
            <a:pPr algn="ctr">
              <a:lnSpc>
                <a:spcPts val="4424"/>
              </a:lnSpc>
            </a:pPr>
          </a:p>
          <a:p>
            <a:pPr algn="ctr">
              <a:lnSpc>
                <a:spcPts val="4424"/>
              </a:lnSpc>
            </a:pPr>
            <a:r>
              <a:rPr lang="en-US" sz="3199" spc="63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Course:Data Visualization&amp; BusinessIntelligencewithPowerBI  Program: BCA – Silver Oak University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649525" y="5660736"/>
            <a:ext cx="79781" cy="88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8"/>
              </a:lnSpc>
            </a:pPr>
            <a:r>
              <a:rPr lang="en-US" sz="31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60569" y="7184431"/>
            <a:ext cx="9610344" cy="92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 Name: Prancey Maurya</a:t>
            </a:r>
          </a:p>
          <a:p>
            <a:pPr algn="ctr">
              <a:lnSpc>
                <a:spcPts val="3600"/>
              </a:lnSpc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Enrollment number : 2304030101346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09818" y="8426701"/>
            <a:ext cx="11467138" cy="52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Project: Dynamic Healthcare Data Dashboard using Power BI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37099" y="1066371"/>
            <a:ext cx="8013697" cy="1612897"/>
            <a:chOff x="0" y="0"/>
            <a:chExt cx="106849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84891" cy="2150491"/>
            </a:xfrm>
            <a:custGeom>
              <a:avLst/>
              <a:gdLst/>
              <a:ahLst/>
              <a:cxnLst/>
              <a:rect r="r" b="b" t="t" l="l"/>
              <a:pathLst>
                <a:path h="2150491" w="10684891">
                  <a:moveTo>
                    <a:pt x="0" y="0"/>
                  </a:moveTo>
                  <a:lnTo>
                    <a:pt x="10684891" y="0"/>
                  </a:lnTo>
                  <a:lnTo>
                    <a:pt x="10684891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967665" y="5197859"/>
            <a:ext cx="133350" cy="2825753"/>
          </a:xfrm>
          <a:custGeom>
            <a:avLst/>
            <a:gdLst/>
            <a:ahLst/>
            <a:cxnLst/>
            <a:rect r="r" b="b" t="t" l="l"/>
            <a:pathLst>
              <a:path h="2825753" w="133350">
                <a:moveTo>
                  <a:pt x="0" y="0"/>
                </a:moveTo>
                <a:lnTo>
                  <a:pt x="133350" y="0"/>
                </a:lnTo>
                <a:lnTo>
                  <a:pt x="133350" y="2825753"/>
                </a:lnTo>
                <a:lnTo>
                  <a:pt x="0" y="2825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11428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1" t="0" r="-112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528577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41853" y="5699227"/>
            <a:ext cx="2901953" cy="2901953"/>
          </a:xfrm>
          <a:custGeom>
            <a:avLst/>
            <a:gdLst/>
            <a:ahLst/>
            <a:cxnLst/>
            <a:rect r="r" b="b" t="t" l="l"/>
            <a:pathLst>
              <a:path h="2901953" w="2901953">
                <a:moveTo>
                  <a:pt x="0" y="0"/>
                </a:moveTo>
                <a:lnTo>
                  <a:pt x="2901953" y="0"/>
                </a:lnTo>
                <a:lnTo>
                  <a:pt x="2901953" y="2901953"/>
                </a:lnTo>
                <a:lnTo>
                  <a:pt x="0" y="290195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15" r="0" b="-1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26873" y="6194974"/>
            <a:ext cx="133350" cy="133350"/>
          </a:xfrm>
          <a:custGeom>
            <a:avLst/>
            <a:gdLst/>
            <a:ahLst/>
            <a:cxnLst/>
            <a:rect r="r" b="b" t="t" l="l"/>
            <a:pathLst>
              <a:path h="133350" w="133350">
                <a:moveTo>
                  <a:pt x="0" y="0"/>
                </a:moveTo>
                <a:lnTo>
                  <a:pt x="133350" y="0"/>
                </a:lnTo>
                <a:lnTo>
                  <a:pt x="133350" y="133350"/>
                </a:ln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326873" y="6775999"/>
            <a:ext cx="133350" cy="133350"/>
          </a:xfrm>
          <a:custGeom>
            <a:avLst/>
            <a:gdLst/>
            <a:ahLst/>
            <a:cxnLst/>
            <a:rect r="r" b="b" t="t" l="l"/>
            <a:pathLst>
              <a:path h="133350" w="133350">
                <a:moveTo>
                  <a:pt x="0" y="0"/>
                </a:moveTo>
                <a:lnTo>
                  <a:pt x="133350" y="0"/>
                </a:lnTo>
                <a:lnTo>
                  <a:pt x="133350" y="133350"/>
                </a:ln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326873" y="7357024"/>
            <a:ext cx="133350" cy="133350"/>
          </a:xfrm>
          <a:custGeom>
            <a:avLst/>
            <a:gdLst/>
            <a:ahLst/>
            <a:cxnLst/>
            <a:rect r="r" b="b" t="t" l="l"/>
            <a:pathLst>
              <a:path h="133350" w="133350">
                <a:moveTo>
                  <a:pt x="0" y="0"/>
                </a:moveTo>
                <a:lnTo>
                  <a:pt x="133350" y="0"/>
                </a:lnTo>
                <a:lnTo>
                  <a:pt x="133350" y="133350"/>
                </a:ln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326873" y="7938049"/>
            <a:ext cx="133350" cy="133350"/>
          </a:xfrm>
          <a:custGeom>
            <a:avLst/>
            <a:gdLst/>
            <a:ahLst/>
            <a:cxnLst/>
            <a:rect r="r" b="b" t="t" l="l"/>
            <a:pathLst>
              <a:path h="133350" w="133350">
                <a:moveTo>
                  <a:pt x="0" y="0"/>
                </a:moveTo>
                <a:lnTo>
                  <a:pt x="133350" y="0"/>
                </a:lnTo>
                <a:lnTo>
                  <a:pt x="133350" y="133350"/>
                </a:ln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326873" y="8519074"/>
            <a:ext cx="133350" cy="133350"/>
          </a:xfrm>
          <a:custGeom>
            <a:avLst/>
            <a:gdLst/>
            <a:ahLst/>
            <a:cxnLst/>
            <a:rect r="r" b="b" t="t" l="l"/>
            <a:pathLst>
              <a:path h="133350" w="133350">
                <a:moveTo>
                  <a:pt x="0" y="0"/>
                </a:moveTo>
                <a:lnTo>
                  <a:pt x="133350" y="0"/>
                </a:lnTo>
                <a:lnTo>
                  <a:pt x="133350" y="133350"/>
                </a:ln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5528634" y="1649216"/>
            <a:ext cx="622297" cy="622297"/>
            <a:chOff x="11061380" y="3302544"/>
            <a:chExt cx="1236358" cy="12363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" y="3"/>
              <a:ext cx="1236358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8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111476" y="1649216"/>
            <a:ext cx="622297" cy="622297"/>
            <a:chOff x="24227067" y="3302544"/>
            <a:chExt cx="1236358" cy="123635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-1" y="3"/>
              <a:ext cx="1236359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9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038700" y="5694178"/>
            <a:ext cx="2908297" cy="2908297"/>
            <a:chOff x="16079635" y="11390596"/>
            <a:chExt cx="5812117" cy="58121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-5"/>
              <a:ext cx="5812116" cy="5812117"/>
            </a:xfrm>
            <a:custGeom>
              <a:avLst/>
              <a:gdLst/>
              <a:ahLst/>
              <a:cxnLst/>
              <a:rect r="r" b="b" t="t" l="l"/>
              <a:pathLst>
                <a:path h="5812117" w="5812116">
                  <a:moveTo>
                    <a:pt x="5812117" y="0"/>
                  </a:moveTo>
                  <a:lnTo>
                    <a:pt x="5812117" y="5812117"/>
                  </a:lnTo>
                  <a:lnTo>
                    <a:pt x="0" y="5812117"/>
                  </a:lnTo>
                  <a:lnTo>
                    <a:pt x="0" y="0"/>
                  </a:lnTo>
                  <a:lnTo>
                    <a:pt x="58121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6187497" y="1478966"/>
            <a:ext cx="6061767" cy="85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Problem Statement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94049" y="5029505"/>
            <a:ext cx="5476942" cy="376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sz="3087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Raw healthcare data is difficult to analyze manually. Hospitals need insights about patients, billing, and medical conditions. Decision making becomes slow without proper visualization tools.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330550" y="3202353"/>
            <a:ext cx="11890162" cy="42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Sondos Bold"/>
                <a:ea typeface="Sondos Bold"/>
                <a:cs typeface="Sondos Bold"/>
                <a:sym typeface="Sondos Bold"/>
              </a:rPr>
              <a:t>Healthcare organizations generate a huge amount of patient and hospital data every day..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658314" y="5999055"/>
            <a:ext cx="3187913" cy="289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Patient statistics Medical conditions Hospital billing Insurance data Healthcare trends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14139" y="3894887"/>
            <a:ext cx="5689349" cy="67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b="true" sz="37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 of the project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605355" y="3984860"/>
            <a:ext cx="2459317" cy="72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However: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67256" y="4830080"/>
            <a:ext cx="7690904" cy="92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build an interactive Power BI dashboard that helps analyze: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83105" y="9655854"/>
            <a:ext cx="10963561" cy="38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dashboard helps hospital management make better data-driven decisions.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37099" y="1066371"/>
            <a:ext cx="8013697" cy="1612897"/>
            <a:chOff x="0" y="0"/>
            <a:chExt cx="106849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84891" cy="2150491"/>
            </a:xfrm>
            <a:custGeom>
              <a:avLst/>
              <a:gdLst/>
              <a:ahLst/>
              <a:cxnLst/>
              <a:rect r="r" b="b" t="t" l="l"/>
              <a:pathLst>
                <a:path h="2150491" w="10684891">
                  <a:moveTo>
                    <a:pt x="0" y="0"/>
                  </a:moveTo>
                  <a:lnTo>
                    <a:pt x="10684891" y="0"/>
                  </a:lnTo>
                  <a:lnTo>
                    <a:pt x="10684891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111428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" t="0" r="-11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28577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516428" y="6705695"/>
            <a:ext cx="1073153" cy="1765297"/>
            <a:chOff x="0" y="0"/>
            <a:chExt cx="1430871" cy="23537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30909" cy="2353691"/>
            </a:xfrm>
            <a:custGeom>
              <a:avLst/>
              <a:gdLst/>
              <a:ahLst/>
              <a:cxnLst/>
              <a:rect r="r" b="b" t="t" l="l"/>
              <a:pathLst>
                <a:path h="2353691" w="1430909">
                  <a:moveTo>
                    <a:pt x="0" y="0"/>
                  </a:moveTo>
                  <a:lnTo>
                    <a:pt x="1430909" y="0"/>
                  </a:lnTo>
                  <a:lnTo>
                    <a:pt x="1430909" y="2353691"/>
                  </a:lnTo>
                  <a:lnTo>
                    <a:pt x="0" y="235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2" b="-1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3071860" y="7329611"/>
            <a:ext cx="107947" cy="107947"/>
          </a:xfrm>
          <a:custGeom>
            <a:avLst/>
            <a:gdLst/>
            <a:ahLst/>
            <a:cxnLst/>
            <a:rect r="r" b="b" t="t" l="l"/>
            <a:pathLst>
              <a:path h="107947" w="107947">
                <a:moveTo>
                  <a:pt x="0" y="0"/>
                </a:moveTo>
                <a:lnTo>
                  <a:pt x="107947" y="0"/>
                </a:lnTo>
                <a:lnTo>
                  <a:pt x="107947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071860" y="7767761"/>
            <a:ext cx="107947" cy="107947"/>
          </a:xfrm>
          <a:custGeom>
            <a:avLst/>
            <a:gdLst/>
            <a:ahLst/>
            <a:cxnLst/>
            <a:rect r="r" b="b" t="t" l="l"/>
            <a:pathLst>
              <a:path h="107947" w="107947">
                <a:moveTo>
                  <a:pt x="0" y="0"/>
                </a:moveTo>
                <a:lnTo>
                  <a:pt x="107947" y="0"/>
                </a:lnTo>
                <a:lnTo>
                  <a:pt x="107947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071860" y="8205911"/>
            <a:ext cx="107947" cy="107947"/>
          </a:xfrm>
          <a:custGeom>
            <a:avLst/>
            <a:gdLst/>
            <a:ahLst/>
            <a:cxnLst/>
            <a:rect r="r" b="b" t="t" l="l"/>
            <a:pathLst>
              <a:path h="107947" w="107947">
                <a:moveTo>
                  <a:pt x="0" y="0"/>
                </a:moveTo>
                <a:lnTo>
                  <a:pt x="107947" y="0"/>
                </a:lnTo>
                <a:lnTo>
                  <a:pt x="107947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491596" y="4362288"/>
            <a:ext cx="1073153" cy="1765297"/>
            <a:chOff x="0" y="0"/>
            <a:chExt cx="1430871" cy="23537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30909" cy="2353691"/>
            </a:xfrm>
            <a:custGeom>
              <a:avLst/>
              <a:gdLst/>
              <a:ahLst/>
              <a:cxnLst/>
              <a:rect r="r" b="b" t="t" l="l"/>
              <a:pathLst>
                <a:path h="2353691" w="1430909">
                  <a:moveTo>
                    <a:pt x="0" y="0"/>
                  </a:moveTo>
                  <a:lnTo>
                    <a:pt x="1430909" y="0"/>
                  </a:lnTo>
                  <a:lnTo>
                    <a:pt x="1430909" y="2353691"/>
                  </a:lnTo>
                  <a:lnTo>
                    <a:pt x="0" y="235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2" b="-1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3020035" y="4952038"/>
            <a:ext cx="95250" cy="95250"/>
          </a:xfrm>
          <a:custGeom>
            <a:avLst/>
            <a:gdLst/>
            <a:ahLst/>
            <a:cxnLst/>
            <a:rect r="r" b="b" t="t" l="l"/>
            <a:pathLst>
              <a:path h="95250" w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020035" y="5361613"/>
            <a:ext cx="95250" cy="95250"/>
          </a:xfrm>
          <a:custGeom>
            <a:avLst/>
            <a:gdLst/>
            <a:ahLst/>
            <a:cxnLst/>
            <a:rect r="r" b="b" t="t" l="l"/>
            <a:pathLst>
              <a:path h="95250" w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020035" y="5771188"/>
            <a:ext cx="95250" cy="95250"/>
          </a:xfrm>
          <a:custGeom>
            <a:avLst/>
            <a:gdLst/>
            <a:ahLst/>
            <a:cxnLst/>
            <a:rect r="r" b="b" t="t" l="l"/>
            <a:pathLst>
              <a:path h="95250" w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020035" y="6180763"/>
            <a:ext cx="95250" cy="95250"/>
          </a:xfrm>
          <a:custGeom>
            <a:avLst/>
            <a:gdLst/>
            <a:ahLst/>
            <a:cxnLst/>
            <a:rect r="r" b="b" t="t" l="l"/>
            <a:pathLst>
              <a:path h="95250" w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8991981" y="6602559"/>
            <a:ext cx="1073153" cy="1765297"/>
            <a:chOff x="0" y="0"/>
            <a:chExt cx="1430871" cy="23537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30909" cy="2353691"/>
            </a:xfrm>
            <a:custGeom>
              <a:avLst/>
              <a:gdLst/>
              <a:ahLst/>
              <a:cxnLst/>
              <a:rect r="r" b="b" t="t" l="l"/>
              <a:pathLst>
                <a:path h="2353691" w="1430909">
                  <a:moveTo>
                    <a:pt x="0" y="0"/>
                  </a:moveTo>
                  <a:lnTo>
                    <a:pt x="1430909" y="0"/>
                  </a:lnTo>
                  <a:lnTo>
                    <a:pt x="1430909" y="2353691"/>
                  </a:lnTo>
                  <a:lnTo>
                    <a:pt x="0" y="235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2" b="-1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10587104" y="730997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587104" y="780527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9011583" y="4359354"/>
            <a:ext cx="1638300" cy="1739903"/>
            <a:chOff x="0" y="0"/>
            <a:chExt cx="2184400" cy="23198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84400" cy="2319909"/>
            </a:xfrm>
            <a:custGeom>
              <a:avLst/>
              <a:gdLst/>
              <a:ahLst/>
              <a:cxnLst/>
              <a:rect r="r" b="b" t="t" l="l"/>
              <a:pathLst>
                <a:path h="2319909" w="2184400">
                  <a:moveTo>
                    <a:pt x="0" y="0"/>
                  </a:moveTo>
                  <a:lnTo>
                    <a:pt x="2184400" y="0"/>
                  </a:lnTo>
                  <a:lnTo>
                    <a:pt x="2184400" y="2319909"/>
                  </a:lnTo>
                  <a:lnTo>
                    <a:pt x="0" y="231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528634" y="1649216"/>
            <a:ext cx="622297" cy="622297"/>
            <a:chOff x="11061380" y="3302544"/>
            <a:chExt cx="1236358" cy="123635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2" y="3"/>
              <a:ext cx="1236358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8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111476" y="1649216"/>
            <a:ext cx="622297" cy="622297"/>
            <a:chOff x="24227067" y="3302544"/>
            <a:chExt cx="1236358" cy="12363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-1" y="3"/>
              <a:ext cx="1236359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9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3426895" y="1641681"/>
            <a:ext cx="11724837" cy="168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4"/>
              </a:lnSpc>
            </a:pPr>
            <a:r>
              <a:rPr lang="en-US" sz="7500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Data Source</a:t>
            </a: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datasetusedisaHealthcareDataset(CSV format).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904186" y="2361790"/>
            <a:ext cx="103861" cy="95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806741" y="6757873"/>
            <a:ext cx="2590133" cy="42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27364C"/>
                </a:solidFill>
                <a:latin typeface="Sondos"/>
                <a:ea typeface="Sondos"/>
                <a:cs typeface="Sondos"/>
                <a:sym typeface="Sondos"/>
              </a:rPr>
              <a:t>Medical Information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346390" y="7196023"/>
            <a:ext cx="2309774" cy="130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27364C"/>
                </a:solidFill>
                <a:latin typeface="Sondos"/>
                <a:ea typeface="Sondos"/>
                <a:cs typeface="Sondos"/>
                <a:sym typeface="Sondos"/>
              </a:rPr>
              <a:t>Medical Condition Medication Test Results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746142" y="7226522"/>
            <a:ext cx="625983" cy="63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03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77589" y="4419686"/>
            <a:ext cx="2608050" cy="41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453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Hospital Information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807275" y="4848311"/>
            <a:ext cx="1799692" cy="126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453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Hospital Doctor Room Number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238526" y="4872942"/>
            <a:ext cx="610486" cy="62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3"/>
              </a:lnSpc>
            </a:pPr>
            <a:r>
              <a:rPr lang="en-US" sz="3631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02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781910" y="4397273"/>
            <a:ext cx="2321423" cy="40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13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Patient Information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281524" y="4806848"/>
            <a:ext cx="1341272" cy="163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13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Name Age Gender Blood Type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46161" y="4880724"/>
            <a:ext cx="575291" cy="68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59262" y="3499218"/>
            <a:ext cx="7382018" cy="51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dataset includes the following fields: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2304" y="6640030"/>
            <a:ext cx="3102874" cy="49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7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Financial Information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886694" y="7135330"/>
            <a:ext cx="2696166" cy="98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7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Billing Amount Insurance Provider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128884" y="6938629"/>
            <a:ext cx="662207" cy="69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</a:pPr>
            <a:r>
              <a:rPr lang="en-US" sz="3911">
                <a:solidFill>
                  <a:srgbClr val="244B85"/>
                </a:solidFill>
                <a:latin typeface="Canva Sans"/>
                <a:ea typeface="Canva Sans"/>
                <a:cs typeface="Canva Sans"/>
                <a:sym typeface="Canva Sans"/>
              </a:rPr>
              <a:t>04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11874" y="9451953"/>
            <a:ext cx="13887183" cy="466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cleaning and transformation were performed using Power BI Power Query Editor.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37099" y="1066371"/>
            <a:ext cx="8013697" cy="1612897"/>
            <a:chOff x="0" y="0"/>
            <a:chExt cx="106849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84891" cy="2150491"/>
            </a:xfrm>
            <a:custGeom>
              <a:avLst/>
              <a:gdLst/>
              <a:ahLst/>
              <a:cxnLst/>
              <a:rect r="r" b="b" t="t" l="l"/>
              <a:pathLst>
                <a:path h="2150491" w="10684891">
                  <a:moveTo>
                    <a:pt x="0" y="0"/>
                  </a:moveTo>
                  <a:lnTo>
                    <a:pt x="10684891" y="0"/>
                  </a:lnTo>
                  <a:lnTo>
                    <a:pt x="10684891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243597" y="167001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" t="0" r="-11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28577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882816" y="4500810"/>
            <a:ext cx="4610100" cy="4114800"/>
          </a:xfrm>
          <a:custGeom>
            <a:avLst/>
            <a:gdLst/>
            <a:ahLst/>
            <a:cxnLst/>
            <a:rect r="r" b="b" t="t" l="l"/>
            <a:pathLst>
              <a:path h="4114800" w="4610100">
                <a:moveTo>
                  <a:pt x="0" y="0"/>
                </a:moveTo>
                <a:lnTo>
                  <a:pt x="4610100" y="0"/>
                </a:lnTo>
                <a:lnTo>
                  <a:pt x="46101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20" t="11" r="20" b="-11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528634" y="1649216"/>
            <a:ext cx="622297" cy="622297"/>
            <a:chOff x="11061380" y="3302544"/>
            <a:chExt cx="1236358" cy="12363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" y="3"/>
              <a:ext cx="1236358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8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243645" y="1670066"/>
            <a:ext cx="622297" cy="622297"/>
            <a:chOff x="24491404" y="3344251"/>
            <a:chExt cx="1236358" cy="12363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1"/>
              <a:ext cx="1236357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7">
                  <a:moveTo>
                    <a:pt x="1236357" y="0"/>
                  </a:moveTo>
                  <a:lnTo>
                    <a:pt x="1236357" y="1236358"/>
                  </a:lnTo>
                  <a:lnTo>
                    <a:pt x="0" y="1236358"/>
                  </a:lnTo>
                  <a:lnTo>
                    <a:pt x="0" y="0"/>
                  </a:lnTo>
                  <a:lnTo>
                    <a:pt x="123635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881378" y="4500324"/>
            <a:ext cx="4610100" cy="4114800"/>
            <a:chOff x="3763615" y="9000647"/>
            <a:chExt cx="9218498" cy="822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" y="-5"/>
              <a:ext cx="9218489" cy="8229600"/>
            </a:xfrm>
            <a:custGeom>
              <a:avLst/>
              <a:gdLst/>
              <a:ahLst/>
              <a:cxnLst/>
              <a:rect r="r" b="b" t="t" l="l"/>
              <a:pathLst>
                <a:path h="8229600" w="9218489">
                  <a:moveTo>
                    <a:pt x="9218489" y="0"/>
                  </a:moveTo>
                  <a:lnTo>
                    <a:pt x="9218489" y="8229600"/>
                  </a:lnTo>
                  <a:lnTo>
                    <a:pt x="0" y="8229600"/>
                  </a:lnTo>
                  <a:lnTo>
                    <a:pt x="0" y="0"/>
                  </a:lnTo>
                  <a:lnTo>
                    <a:pt x="921848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238694" y="1487205"/>
            <a:ext cx="6271679" cy="173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7"/>
              </a:lnSpc>
            </a:pPr>
            <a:r>
              <a:rPr lang="en-US" sz="5577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Data Preparation </a:t>
            </a:r>
          </a:p>
          <a:p>
            <a:pPr algn="ctr">
              <a:lnSpc>
                <a:spcPts val="5987"/>
              </a:lnSpc>
            </a:pPr>
            <a:r>
              <a:rPr lang="en-US" sz="4276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(What I Did)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88088" y="5155902"/>
            <a:ext cx="6207052" cy="392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5"/>
              </a:lnSpc>
            </a:pPr>
            <a:r>
              <a:rPr lang="en-US" sz="36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• Removed unnecessary columns  • Corrected data types  • Converted dates properly  • Handled missing values  • Created calculated columns  • Created DAX measures for KPIs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97890" y="3274343"/>
            <a:ext cx="12188447" cy="82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0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Before building the dashboard, the dataset was prepared.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84276" y="4176722"/>
            <a:ext cx="3751450" cy="82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0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Steps performed: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4729" y="9461306"/>
            <a:ext cx="11905774" cy="466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ensured the dataset is clean, structured, and ready for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88939" y="988943"/>
            <a:ext cx="9290047" cy="1612897"/>
            <a:chOff x="0" y="0"/>
            <a:chExt cx="123867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86691" cy="2150491"/>
            </a:xfrm>
            <a:custGeom>
              <a:avLst/>
              <a:gdLst/>
              <a:ahLst/>
              <a:cxnLst/>
              <a:rect r="r" b="b" t="t" l="l"/>
              <a:pathLst>
                <a:path h="2150491" w="12386691">
                  <a:moveTo>
                    <a:pt x="0" y="0"/>
                  </a:moveTo>
                  <a:lnTo>
                    <a:pt x="12386691" y="0"/>
                  </a:lnTo>
                  <a:lnTo>
                    <a:pt x="12386691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750241" y="1560862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" t="0" r="-11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801657" y="1562443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382349" y="5012160"/>
            <a:ext cx="3505200" cy="3371850"/>
            <a:chOff x="0" y="0"/>
            <a:chExt cx="4673600" cy="449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73600" cy="4495800"/>
            </a:xfrm>
            <a:custGeom>
              <a:avLst/>
              <a:gdLst/>
              <a:ahLst/>
              <a:cxnLst/>
              <a:rect r="r" b="b" t="t" l="l"/>
              <a:pathLst>
                <a:path h="4495800" w="4673600">
                  <a:moveTo>
                    <a:pt x="0" y="0"/>
                  </a:moveTo>
                  <a:lnTo>
                    <a:pt x="4673600" y="0"/>
                  </a:lnTo>
                  <a:lnTo>
                    <a:pt x="4673600" y="4495800"/>
                  </a:lnTo>
                  <a:lnTo>
                    <a:pt x="0" y="449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279675" y="9178376"/>
            <a:ext cx="7874003" cy="965197"/>
          </a:xfrm>
          <a:custGeom>
            <a:avLst/>
            <a:gdLst/>
            <a:ahLst/>
            <a:cxnLst/>
            <a:rect r="r" b="b" t="t" l="l"/>
            <a:pathLst>
              <a:path h="965197" w="7874003">
                <a:moveTo>
                  <a:pt x="0" y="0"/>
                </a:moveTo>
                <a:lnTo>
                  <a:pt x="7874004" y="0"/>
                </a:lnTo>
                <a:lnTo>
                  <a:pt x="7874004" y="965197"/>
                </a:lnTo>
                <a:lnTo>
                  <a:pt x="0" y="96519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49" r="0" b="-49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801705" y="1562481"/>
            <a:ext cx="622297" cy="622297"/>
            <a:chOff x="9607525" y="3129093"/>
            <a:chExt cx="1236358" cy="12363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1" y="-4"/>
              <a:ext cx="1236358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8">
                  <a:moveTo>
                    <a:pt x="1236358" y="0"/>
                  </a:moveTo>
                  <a:lnTo>
                    <a:pt x="1236358" y="1236358"/>
                  </a:lnTo>
                  <a:lnTo>
                    <a:pt x="0" y="1236358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750289" y="1560909"/>
            <a:ext cx="622297" cy="622297"/>
            <a:chOff x="25504698" y="3125933"/>
            <a:chExt cx="1236358" cy="12363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" y="-6"/>
              <a:ext cx="1236357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7">
                  <a:moveTo>
                    <a:pt x="1236357" y="0"/>
                  </a:moveTo>
                  <a:lnTo>
                    <a:pt x="1236357" y="1236358"/>
                  </a:lnTo>
                  <a:lnTo>
                    <a:pt x="0" y="1236358"/>
                  </a:lnTo>
                  <a:lnTo>
                    <a:pt x="0" y="0"/>
                  </a:lnTo>
                  <a:lnTo>
                    <a:pt x="123635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260644" y="9179233"/>
            <a:ext cx="7912103" cy="965197"/>
            <a:chOff x="4522097" y="18359925"/>
            <a:chExt cx="15822574" cy="19274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" y="-6"/>
              <a:ext cx="15822563" cy="1927479"/>
            </a:xfrm>
            <a:custGeom>
              <a:avLst/>
              <a:gdLst/>
              <a:ahLst/>
              <a:cxnLst/>
              <a:rect r="r" b="b" t="t" l="l"/>
              <a:pathLst>
                <a:path h="1927479" w="15822563">
                  <a:moveTo>
                    <a:pt x="15822563" y="0"/>
                  </a:moveTo>
                  <a:lnTo>
                    <a:pt x="15822563" y="1927479"/>
                  </a:lnTo>
                  <a:lnTo>
                    <a:pt x="0" y="1927479"/>
                  </a:lnTo>
                  <a:lnTo>
                    <a:pt x="0" y="0"/>
                  </a:lnTo>
                  <a:lnTo>
                    <a:pt x="1582256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5493791" y="1419215"/>
            <a:ext cx="7415346" cy="79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Calculated Columns Used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66856" y="2765831"/>
            <a:ext cx="13974975" cy="151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Some calculated columns were created to improve analysis.</a:t>
            </a:r>
          </a:p>
          <a:p>
            <a:pPr algn="l">
              <a:lnSpc>
                <a:spcPts val="6207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17756" y="4324150"/>
            <a:ext cx="3108084" cy="7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7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Length of Stay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61044" y="6379978"/>
            <a:ext cx="3418370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Billing Category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78199" y="5256714"/>
            <a:ext cx="10925746" cy="92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Length of Stay = DATEDIFF('healthcare_dataset'[Date of Admission], 'healthcare_dataset'[Discharge Date], DAY)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36581" y="7179735"/>
            <a:ext cx="8423205" cy="148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Billing Category = IF('healthcare_dataset'[Billing Amount] &gt; 30000, "High Cost","Normal Cost")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360193" y="9296095"/>
            <a:ext cx="3786959" cy="36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columns help analyze: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658637" y="9667570"/>
            <a:ext cx="2854481" cy="36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Patient stay duration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834634" y="9667570"/>
            <a:ext cx="3327102" cy="36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Treatment cost categorie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2373" y="-67"/>
            <a:ext cx="4786312" cy="2524125"/>
            <a:chOff x="0" y="0"/>
            <a:chExt cx="6381750" cy="3365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1750" cy="3365500"/>
            </a:xfrm>
            <a:custGeom>
              <a:avLst/>
              <a:gdLst/>
              <a:ahLst/>
              <a:cxnLst/>
              <a:rect r="r" b="b" t="t" l="l"/>
              <a:pathLst>
                <a:path h="3365500" w="6381750">
                  <a:moveTo>
                    <a:pt x="0" y="0"/>
                  </a:moveTo>
                  <a:lnTo>
                    <a:pt x="6381750" y="0"/>
                  </a:lnTo>
                  <a:lnTo>
                    <a:pt x="6381750" y="3365500"/>
                  </a:lnTo>
                  <a:lnTo>
                    <a:pt x="0" y="336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64784" y="1067962"/>
            <a:ext cx="9558338" cy="1609725"/>
            <a:chOff x="0" y="0"/>
            <a:chExt cx="12744450" cy="214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44450" cy="2146300"/>
            </a:xfrm>
            <a:custGeom>
              <a:avLst/>
              <a:gdLst/>
              <a:ahLst/>
              <a:cxnLst/>
              <a:rect r="r" b="b" t="t" l="l"/>
              <a:pathLst>
                <a:path h="2146300" w="12744450">
                  <a:moveTo>
                    <a:pt x="0" y="0"/>
                  </a:moveTo>
                  <a:lnTo>
                    <a:pt x="12744450" y="0"/>
                  </a:lnTo>
                  <a:lnTo>
                    <a:pt x="12744450" y="2146300"/>
                  </a:lnTo>
                  <a:lnTo>
                    <a:pt x="0" y="214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061290" y="1650749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5161" y="9258300"/>
            <a:ext cx="4124325" cy="1028700"/>
            <a:chOff x="0" y="0"/>
            <a:chExt cx="54991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91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038" y="0"/>
            <a:ext cx="3838575" cy="1028700"/>
            <a:chOff x="0" y="0"/>
            <a:chExt cx="5118100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81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8100">
                  <a:moveTo>
                    <a:pt x="0" y="0"/>
                  </a:moveTo>
                  <a:lnTo>
                    <a:pt x="5118100" y="0"/>
                  </a:lnTo>
                  <a:lnTo>
                    <a:pt x="51181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31" t="0" r="-31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71512" y="1779318"/>
            <a:ext cx="28575" cy="4314825"/>
          </a:xfrm>
          <a:custGeom>
            <a:avLst/>
            <a:gdLst/>
            <a:ahLst/>
            <a:cxnLst/>
            <a:rect r="r" b="b" t="t" l="l"/>
            <a:pathLst>
              <a:path h="4314825" w="28575">
                <a:moveTo>
                  <a:pt x="0" y="0"/>
                </a:moveTo>
                <a:lnTo>
                  <a:pt x="28575" y="0"/>
                </a:lnTo>
                <a:lnTo>
                  <a:pt x="28575" y="4314825"/>
                </a:lnTo>
                <a:lnTo>
                  <a:pt x="0" y="4314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7837" y="4399540"/>
            <a:ext cx="28575" cy="4314825"/>
          </a:xfrm>
          <a:custGeom>
            <a:avLst/>
            <a:gdLst/>
            <a:ahLst/>
            <a:cxnLst/>
            <a:rect r="r" b="b" t="t" l="l"/>
            <a:pathLst>
              <a:path h="4314825" w="28575">
                <a:moveTo>
                  <a:pt x="0" y="0"/>
                </a:moveTo>
                <a:lnTo>
                  <a:pt x="28575" y="0"/>
                </a:lnTo>
                <a:lnTo>
                  <a:pt x="28575" y="4314825"/>
                </a:lnTo>
                <a:lnTo>
                  <a:pt x="0" y="4314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596965" y="1650749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688644" y="4454995"/>
            <a:ext cx="3476625" cy="4305300"/>
            <a:chOff x="0" y="0"/>
            <a:chExt cx="4635500" cy="5740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35500" cy="5740400"/>
            </a:xfrm>
            <a:custGeom>
              <a:avLst/>
              <a:gdLst/>
              <a:ahLst/>
              <a:cxnLst/>
              <a:rect r="r" b="b" t="t" l="l"/>
              <a:pathLst>
                <a:path h="5740400" w="4635500">
                  <a:moveTo>
                    <a:pt x="0" y="0"/>
                  </a:moveTo>
                  <a:lnTo>
                    <a:pt x="4635500" y="0"/>
                  </a:lnTo>
                  <a:lnTo>
                    <a:pt x="4635500" y="5740400"/>
                  </a:lnTo>
                  <a:lnTo>
                    <a:pt x="0" y="574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597013" y="1650797"/>
            <a:ext cx="619125" cy="619125"/>
            <a:chOff x="12259959" y="4403391"/>
            <a:chExt cx="1648473" cy="16484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-1" y="3"/>
              <a:ext cx="1648472" cy="1648473"/>
            </a:xfrm>
            <a:custGeom>
              <a:avLst/>
              <a:gdLst/>
              <a:ahLst/>
              <a:cxnLst/>
              <a:rect r="r" b="b" t="t" l="l"/>
              <a:pathLst>
                <a:path h="1648473" w="1648472">
                  <a:moveTo>
                    <a:pt x="1648473" y="0"/>
                  </a:moveTo>
                  <a:lnTo>
                    <a:pt x="1648473" y="1648473"/>
                  </a:lnTo>
                  <a:lnTo>
                    <a:pt x="0" y="1648473"/>
                  </a:lnTo>
                  <a:lnTo>
                    <a:pt x="0" y="0"/>
                  </a:lnTo>
                  <a:lnTo>
                    <a:pt x="16484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61337" y="1650797"/>
            <a:ext cx="619125" cy="619125"/>
            <a:chOff x="34831491" y="4403391"/>
            <a:chExt cx="1648473" cy="16484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-1" y="3"/>
              <a:ext cx="1648473" cy="1648473"/>
            </a:xfrm>
            <a:custGeom>
              <a:avLst/>
              <a:gdLst/>
              <a:ahLst/>
              <a:cxnLst/>
              <a:rect r="r" b="b" t="t" l="l"/>
              <a:pathLst>
                <a:path h="1648473" w="1648473">
                  <a:moveTo>
                    <a:pt x="1648473" y="0"/>
                  </a:moveTo>
                  <a:lnTo>
                    <a:pt x="1648473" y="1648473"/>
                  </a:lnTo>
                  <a:lnTo>
                    <a:pt x="0" y="1648473"/>
                  </a:lnTo>
                  <a:lnTo>
                    <a:pt x="0" y="0"/>
                  </a:lnTo>
                  <a:lnTo>
                    <a:pt x="16484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1550" y="1670971"/>
            <a:ext cx="28575" cy="4533900"/>
            <a:chOff x="2590800" y="4459002"/>
            <a:chExt cx="76200" cy="12084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6"/>
              <a:ext cx="76200" cy="12084238"/>
            </a:xfrm>
            <a:custGeom>
              <a:avLst/>
              <a:gdLst/>
              <a:ahLst/>
              <a:cxnLst/>
              <a:rect r="r" b="b" t="t" l="l"/>
              <a:pathLst>
                <a:path h="12084238" w="76200">
                  <a:moveTo>
                    <a:pt x="76200" y="0"/>
                  </a:moveTo>
                  <a:lnTo>
                    <a:pt x="76200" y="12084238"/>
                  </a:lnTo>
                  <a:lnTo>
                    <a:pt x="0" y="12084238"/>
                  </a:ln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287875" y="4291193"/>
            <a:ext cx="28575" cy="4533900"/>
            <a:chOff x="46101000" y="11446257"/>
            <a:chExt cx="76200" cy="120842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-1"/>
              <a:ext cx="76200" cy="12084253"/>
            </a:xfrm>
            <a:custGeom>
              <a:avLst/>
              <a:gdLst/>
              <a:ahLst/>
              <a:cxnLst/>
              <a:rect r="r" b="b" t="t" l="l"/>
              <a:pathLst>
                <a:path h="12084253" w="76200">
                  <a:moveTo>
                    <a:pt x="76200" y="0"/>
                  </a:moveTo>
                  <a:lnTo>
                    <a:pt x="76200" y="12084253"/>
                  </a:lnTo>
                  <a:lnTo>
                    <a:pt x="0" y="12084253"/>
                  </a:ln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5245484" y="1376343"/>
            <a:ext cx="7952899" cy="99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2"/>
              </a:lnSpc>
            </a:pPr>
            <a:r>
              <a:rPr lang="en-US" sz="5400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DAX Measures Created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12507" y="2396566"/>
            <a:ext cx="88973" cy="92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b="true" sz="3599">
                <a:solidFill>
                  <a:srgbClr val="000000"/>
                </a:solidFill>
                <a:latin typeface="Sondos Bold"/>
                <a:ea typeface="Sondos Bold"/>
                <a:cs typeface="Sondos Bold"/>
                <a:sym typeface="Sondos Bold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908783" y="3458223"/>
            <a:ext cx="3157461" cy="75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b="true" sz="4199">
                <a:solidFill>
                  <a:srgbClr val="000000"/>
                </a:solidFill>
                <a:latin typeface="Sondos Bold"/>
                <a:ea typeface="Sondos Bold"/>
                <a:cs typeface="Sondos Bold"/>
                <a:sym typeface="Sondos Bold"/>
              </a:rPr>
              <a:t>Total Patients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820173" y="4058288"/>
            <a:ext cx="95260" cy="67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8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68794" y="2691841"/>
            <a:ext cx="10214696" cy="62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b="true" sz="3599" spc="89">
                <a:solidFill>
                  <a:srgbClr val="000000"/>
                </a:solidFill>
                <a:latin typeface="Sondos Bold"/>
                <a:ea typeface="Sondos Bold"/>
                <a:cs typeface="Sondos Bold"/>
                <a:sym typeface="Sondos Bold"/>
              </a:rPr>
              <a:t>Several measureswerecreatedforKPIsandanalysis.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30501" y="2972343"/>
            <a:ext cx="470011" cy="6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999"/>
              </a:lnSpc>
            </a:pPr>
            <a:r>
              <a:rPr lang="en-US" b="true" sz="3999" spc="7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1. 2.</a:t>
            </a:r>
          </a:p>
          <a:p>
            <a:pPr algn="just">
              <a:lnSpc>
                <a:spcPts val="9515"/>
              </a:lnSpc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</a:t>
            </a:r>
          </a:p>
          <a:p>
            <a:pPr algn="just">
              <a:lnSpc>
                <a:spcPts val="7803"/>
              </a:lnSpc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</a:t>
            </a:r>
          </a:p>
          <a:p>
            <a:pPr algn="just">
              <a:lnSpc>
                <a:spcPts val="5459"/>
              </a:lnSpc>
            </a:pPr>
            <a:r>
              <a:rPr lang="en-US" b="true" sz="3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908783" y="4201163"/>
            <a:ext cx="9709423" cy="52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Patients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=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COUNT('healthcare_dataset'[Name])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908783" y="7813681"/>
            <a:ext cx="10765984" cy="117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Avg Stay = AVERAGE('healthcare_dataset'[Length of Stay])</a:t>
            </a:r>
          </a:p>
          <a:p>
            <a:pPr algn="l">
              <a:lnSpc>
                <a:spcPts val="7998"/>
              </a:lnSpc>
            </a:pP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Male Patients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56214" y="5170808"/>
            <a:ext cx="10835249" cy="84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Charges = SUM('healthcare_dataset'[Billing Amount])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08783" y="6318256"/>
            <a:ext cx="9434665" cy="84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Average Age = AVERAGE('healthcare_dataset'[Age])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908935" y="4540929"/>
            <a:ext cx="2743162" cy="89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8"/>
              </a:lnSpc>
            </a:pP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Charges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08935" y="5743365"/>
            <a:ext cx="2493054" cy="89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8"/>
              </a:lnSpc>
            </a:pP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Age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963580" y="6890804"/>
            <a:ext cx="2631672" cy="89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8"/>
              </a:lnSpc>
            </a:pP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Stay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08783" y="8803167"/>
            <a:ext cx="8044367" cy="138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Male Patients = CALCULATE(COUNT('healthcare_dataset'[Name]), 'healthcare_dataset'[Gender] = "Male")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91101" y="1066371"/>
            <a:ext cx="10585447" cy="1612897"/>
            <a:chOff x="0" y="0"/>
            <a:chExt cx="141139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13890" cy="2150491"/>
            </a:xfrm>
            <a:custGeom>
              <a:avLst/>
              <a:gdLst/>
              <a:ahLst/>
              <a:cxnLst/>
              <a:rect r="r" b="b" t="t" l="l"/>
              <a:pathLst>
                <a:path h="2150491" w="14113890">
                  <a:moveTo>
                    <a:pt x="0" y="0"/>
                  </a:moveTo>
                  <a:lnTo>
                    <a:pt x="14113890" y="0"/>
                  </a:lnTo>
                  <a:lnTo>
                    <a:pt x="14113890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856446" y="1390221"/>
            <a:ext cx="793747" cy="793747"/>
          </a:xfrm>
          <a:custGeom>
            <a:avLst/>
            <a:gdLst/>
            <a:ahLst/>
            <a:cxnLst/>
            <a:rect r="r" b="b" t="t" l="l"/>
            <a:pathLst>
              <a:path h="793747" w="793747">
                <a:moveTo>
                  <a:pt x="0" y="0"/>
                </a:moveTo>
                <a:lnTo>
                  <a:pt x="793747" y="0"/>
                </a:lnTo>
                <a:lnTo>
                  <a:pt x="793747" y="793747"/>
                </a:lnTo>
                <a:lnTo>
                  <a:pt x="0" y="7937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" t="0" r="-11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757528" y="1390221"/>
            <a:ext cx="793747" cy="793747"/>
          </a:xfrm>
          <a:custGeom>
            <a:avLst/>
            <a:gdLst/>
            <a:ahLst/>
            <a:cxnLst/>
            <a:rect r="r" b="b" t="t" l="l"/>
            <a:pathLst>
              <a:path h="793747" w="793747">
                <a:moveTo>
                  <a:pt x="0" y="0"/>
                </a:moveTo>
                <a:lnTo>
                  <a:pt x="793747" y="0"/>
                </a:lnTo>
                <a:lnTo>
                  <a:pt x="793747" y="793747"/>
                </a:lnTo>
                <a:lnTo>
                  <a:pt x="0" y="7937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234422" y="6496564"/>
            <a:ext cx="107947" cy="107947"/>
          </a:xfrm>
          <a:custGeom>
            <a:avLst/>
            <a:gdLst/>
            <a:ahLst/>
            <a:cxnLst/>
            <a:rect r="r" b="b" t="t" l="l"/>
            <a:pathLst>
              <a:path h="107947" w="107947">
                <a:moveTo>
                  <a:pt x="0" y="0"/>
                </a:moveTo>
                <a:lnTo>
                  <a:pt x="107947" y="0"/>
                </a:lnTo>
                <a:lnTo>
                  <a:pt x="107947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234422" y="6953764"/>
            <a:ext cx="107947" cy="107947"/>
          </a:xfrm>
          <a:custGeom>
            <a:avLst/>
            <a:gdLst/>
            <a:ahLst/>
            <a:cxnLst/>
            <a:rect r="r" b="b" t="t" l="l"/>
            <a:pathLst>
              <a:path h="107947" w="107947">
                <a:moveTo>
                  <a:pt x="0" y="0"/>
                </a:moveTo>
                <a:lnTo>
                  <a:pt x="107947" y="0"/>
                </a:lnTo>
                <a:lnTo>
                  <a:pt x="107947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234422" y="7410964"/>
            <a:ext cx="107947" cy="107947"/>
          </a:xfrm>
          <a:custGeom>
            <a:avLst/>
            <a:gdLst/>
            <a:ahLst/>
            <a:cxnLst/>
            <a:rect r="r" b="b" t="t" l="l"/>
            <a:pathLst>
              <a:path h="107947" w="107947">
                <a:moveTo>
                  <a:pt x="0" y="0"/>
                </a:moveTo>
                <a:lnTo>
                  <a:pt x="107947" y="0"/>
                </a:lnTo>
                <a:lnTo>
                  <a:pt x="107947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234422" y="7868164"/>
            <a:ext cx="107947" cy="107947"/>
          </a:xfrm>
          <a:custGeom>
            <a:avLst/>
            <a:gdLst/>
            <a:ahLst/>
            <a:cxnLst/>
            <a:rect r="r" b="b" t="t" l="l"/>
            <a:pathLst>
              <a:path h="107947" w="107947">
                <a:moveTo>
                  <a:pt x="0" y="0"/>
                </a:moveTo>
                <a:lnTo>
                  <a:pt x="107947" y="0"/>
                </a:lnTo>
                <a:lnTo>
                  <a:pt x="107947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234422" y="8325364"/>
            <a:ext cx="107947" cy="107947"/>
          </a:xfrm>
          <a:custGeom>
            <a:avLst/>
            <a:gdLst/>
            <a:ahLst/>
            <a:cxnLst/>
            <a:rect r="r" b="b" t="t" l="l"/>
            <a:pathLst>
              <a:path h="107947" w="107947">
                <a:moveTo>
                  <a:pt x="0" y="0"/>
                </a:moveTo>
                <a:lnTo>
                  <a:pt x="107947" y="0"/>
                </a:lnTo>
                <a:lnTo>
                  <a:pt x="107947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234422" y="9239764"/>
            <a:ext cx="107947" cy="107947"/>
          </a:xfrm>
          <a:custGeom>
            <a:avLst/>
            <a:gdLst/>
            <a:ahLst/>
            <a:cxnLst/>
            <a:rect r="r" b="b" t="t" l="l"/>
            <a:pathLst>
              <a:path h="107947" w="107947">
                <a:moveTo>
                  <a:pt x="0" y="0"/>
                </a:moveTo>
                <a:lnTo>
                  <a:pt x="107947" y="0"/>
                </a:lnTo>
                <a:lnTo>
                  <a:pt x="107947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911496" y="3527755"/>
            <a:ext cx="3600450" cy="781050"/>
            <a:chOff x="0" y="0"/>
            <a:chExt cx="4800600" cy="1041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006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1041400"/>
                  </a:lnTo>
                  <a:lnTo>
                    <a:pt x="0" y="104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845695" y="3408436"/>
            <a:ext cx="3479797" cy="812797"/>
            <a:chOff x="0" y="0"/>
            <a:chExt cx="4639729" cy="10837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39691" cy="1083691"/>
            </a:xfrm>
            <a:custGeom>
              <a:avLst/>
              <a:gdLst/>
              <a:ahLst/>
              <a:cxnLst/>
              <a:rect r="r" b="b" t="t" l="l"/>
              <a:pathLst>
                <a:path h="1083691" w="4639691">
                  <a:moveTo>
                    <a:pt x="0" y="0"/>
                  </a:moveTo>
                  <a:lnTo>
                    <a:pt x="4639691" y="0"/>
                  </a:lnTo>
                  <a:lnTo>
                    <a:pt x="4639691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-3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7883928" y="6132443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883928" y="6646793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883928" y="7675493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883928" y="8189843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843491" y="3442030"/>
            <a:ext cx="3441697" cy="781050"/>
            <a:chOff x="0" y="0"/>
            <a:chExt cx="4588929" cy="1041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88891" cy="1041400"/>
            </a:xfrm>
            <a:custGeom>
              <a:avLst/>
              <a:gdLst/>
              <a:ahLst/>
              <a:cxnLst/>
              <a:rect r="r" b="b" t="t" l="l"/>
              <a:pathLst>
                <a:path h="1041400" w="4588891">
                  <a:moveTo>
                    <a:pt x="0" y="0"/>
                  </a:moveTo>
                  <a:lnTo>
                    <a:pt x="4588891" y="0"/>
                  </a:lnTo>
                  <a:lnTo>
                    <a:pt x="4588891" y="1041400"/>
                  </a:lnTo>
                  <a:lnTo>
                    <a:pt x="0" y="1041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3100275" y="650949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100275" y="746199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100275" y="793824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100275" y="841449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4757595" y="1390298"/>
            <a:ext cx="793747" cy="793747"/>
            <a:chOff x="9519413" y="2784809"/>
            <a:chExt cx="1579067" cy="157906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-1" y="-4"/>
              <a:ext cx="1579067" cy="1579067"/>
            </a:xfrm>
            <a:custGeom>
              <a:avLst/>
              <a:gdLst/>
              <a:ahLst/>
              <a:cxnLst/>
              <a:rect r="r" b="b" t="t" l="l"/>
              <a:pathLst>
                <a:path h="1579067" w="1579067">
                  <a:moveTo>
                    <a:pt x="1579067" y="0"/>
                  </a:moveTo>
                  <a:lnTo>
                    <a:pt x="1579067" y="1579068"/>
                  </a:lnTo>
                  <a:lnTo>
                    <a:pt x="0" y="1579068"/>
                  </a:lnTo>
                  <a:lnTo>
                    <a:pt x="0" y="0"/>
                  </a:lnTo>
                  <a:lnTo>
                    <a:pt x="157906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856513" y="1390298"/>
            <a:ext cx="793747" cy="793747"/>
            <a:chOff x="27717250" y="2784809"/>
            <a:chExt cx="1579067" cy="157906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4" y="-4"/>
              <a:ext cx="1579054" cy="1579067"/>
            </a:xfrm>
            <a:custGeom>
              <a:avLst/>
              <a:gdLst/>
              <a:ahLst/>
              <a:cxnLst/>
              <a:rect r="r" b="b" t="t" l="l"/>
              <a:pathLst>
                <a:path h="1579067" w="1579054">
                  <a:moveTo>
                    <a:pt x="1579054" y="0"/>
                  </a:moveTo>
                  <a:lnTo>
                    <a:pt x="1579054" y="1579068"/>
                  </a:lnTo>
                  <a:lnTo>
                    <a:pt x="0" y="1579068"/>
                  </a:lnTo>
                  <a:lnTo>
                    <a:pt x="0" y="0"/>
                  </a:lnTo>
                  <a:lnTo>
                    <a:pt x="157905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4332865" y="1127598"/>
            <a:ext cx="10915888" cy="217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2"/>
              </a:lnSpc>
            </a:pPr>
            <a:r>
              <a:rPr lang="en-US" sz="6099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Dashboard Overview</a:t>
            </a:r>
          </a:p>
          <a:p>
            <a:pPr algn="ctr">
              <a:lnSpc>
                <a:spcPts val="6019"/>
              </a:lnSpc>
            </a:pP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includes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320179" y="2213972"/>
            <a:ext cx="131359" cy="106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8"/>
              </a:lnSpc>
            </a:pPr>
            <a:r>
              <a:rPr lang="en-US" b="true" sz="4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950263" y="5429088"/>
            <a:ext cx="3080271" cy="91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5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Shows overall hospital statistics: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511495" y="6343488"/>
            <a:ext cx="3640322" cy="319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5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Total Patients Total Charges Average Age Average Stay Patient distribution by gender Medical condition vs billing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312100" y="3578914"/>
            <a:ext cx="532143" cy="63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Arbutus Slab"/>
                <a:ea typeface="Arbutus Slab"/>
                <a:cs typeface="Arbutus Slab"/>
                <a:sym typeface="Arbutus Slab"/>
              </a:rPr>
              <a:t>01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058246" y="3453022"/>
            <a:ext cx="622002" cy="63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Arbutus Slab"/>
                <a:ea typeface="Arbutus Slab"/>
                <a:cs typeface="Arbutus Slab"/>
                <a:sym typeface="Arbutus Slab"/>
              </a:rPr>
              <a:t>02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076426" y="3453022"/>
            <a:ext cx="625983" cy="63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Arbutus Slab"/>
                <a:ea typeface="Arbutus Slab"/>
                <a:cs typeface="Arbutus Slab"/>
                <a:sym typeface="Arbutus Slab"/>
              </a:rPr>
              <a:t>03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550553" y="5443023"/>
            <a:ext cx="4339333" cy="49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Focuses on medical analysis: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176517" y="5957373"/>
            <a:ext cx="3487750" cy="307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Blood type vs condition Average stay by condition Condition distribution Cost category by condition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61976" y="4509211"/>
            <a:ext cx="5380977" cy="53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Healthcare Analytics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850410" y="4469740"/>
            <a:ext cx="3504381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Medical Insights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609386" y="4329903"/>
            <a:ext cx="4159072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 spc="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Financial Analytics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805000" y="5392388"/>
            <a:ext cx="4055174" cy="9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6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Focuses on hospital financial performance: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387816" y="6344888"/>
            <a:ext cx="3670030" cy="237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699">
                <a:solidFill>
                  <a:srgbClr val="000000"/>
                </a:solidFill>
                <a:latin typeface="Sondos"/>
                <a:ea typeface="Sondos"/>
                <a:cs typeface="Sondos"/>
                <a:sym typeface="Sondos"/>
              </a:rPr>
              <a:t>Charges by insurance provider Charges by hospital Doctor billing analysis Stay vs billing relationship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37099" y="1066371"/>
            <a:ext cx="8013697" cy="1612897"/>
            <a:chOff x="0" y="0"/>
            <a:chExt cx="106849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84891" cy="2150491"/>
            </a:xfrm>
            <a:custGeom>
              <a:avLst/>
              <a:gdLst/>
              <a:ahLst/>
              <a:cxnLst/>
              <a:rect r="r" b="b" t="t" l="l"/>
              <a:pathLst>
                <a:path h="2150491" w="10684891">
                  <a:moveTo>
                    <a:pt x="0" y="0"/>
                  </a:moveTo>
                  <a:lnTo>
                    <a:pt x="10684891" y="0"/>
                  </a:lnTo>
                  <a:lnTo>
                    <a:pt x="10684891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111428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" t="0" r="-11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28577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047652" y="4305157"/>
            <a:ext cx="4000500" cy="2412997"/>
            <a:chOff x="0" y="0"/>
            <a:chExt cx="5334000" cy="32173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4000" cy="3217291"/>
            </a:xfrm>
            <a:custGeom>
              <a:avLst/>
              <a:gdLst/>
              <a:ahLst/>
              <a:cxnLst/>
              <a:rect r="r" b="b" t="t" l="l"/>
              <a:pathLst>
                <a:path h="3217291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217291"/>
                  </a:lnTo>
                  <a:lnTo>
                    <a:pt x="0" y="3217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57" r="0" b="-207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1761641" y="3901735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761641" y="4501810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761641" y="5101885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61641" y="5701960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761641" y="6302035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761641" y="6902110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5528634" y="1649216"/>
            <a:ext cx="622297" cy="622297"/>
            <a:chOff x="11061380" y="3302544"/>
            <a:chExt cx="1236358" cy="12363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" y="3"/>
              <a:ext cx="1236358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8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11476" y="1649216"/>
            <a:ext cx="622297" cy="622297"/>
            <a:chOff x="24227067" y="3302544"/>
            <a:chExt cx="1236358" cy="12363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1" y="3"/>
              <a:ext cx="1236359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9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047719" y="4303919"/>
            <a:ext cx="4000500" cy="2419350"/>
            <a:chOff x="14097353" y="8613487"/>
            <a:chExt cx="7997177" cy="48273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" y="-5"/>
              <a:ext cx="7997165" cy="4827385"/>
            </a:xfrm>
            <a:custGeom>
              <a:avLst/>
              <a:gdLst/>
              <a:ahLst/>
              <a:cxnLst/>
              <a:rect r="r" b="b" t="t" l="l"/>
              <a:pathLst>
                <a:path h="4827385" w="7997165">
                  <a:moveTo>
                    <a:pt x="7997165" y="0"/>
                  </a:moveTo>
                  <a:lnTo>
                    <a:pt x="7997165" y="4827386"/>
                  </a:lnTo>
                  <a:lnTo>
                    <a:pt x="0" y="4827386"/>
                  </a:lnTo>
                  <a:lnTo>
                    <a:pt x="0" y="0"/>
                  </a:lnTo>
                  <a:lnTo>
                    <a:pt x="799716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6155026" y="1433160"/>
            <a:ext cx="6097314" cy="832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1"/>
              </a:lnSpc>
            </a:pPr>
            <a:r>
              <a:rPr lang="en-US" sz="4851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Dashboard Features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32893" y="3031379"/>
            <a:ext cx="8267795" cy="44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dashboard includes several interactive features.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83740" y="3645256"/>
            <a:ext cx="572119" cy="7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35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94296" y="4271362"/>
            <a:ext cx="572119" cy="7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35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94296" y="4897469"/>
            <a:ext cx="572119" cy="7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35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94296" y="5523576"/>
            <a:ext cx="572119" cy="7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35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94296" y="6149683"/>
            <a:ext cx="572119" cy="7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35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94296" y="6775790"/>
            <a:ext cx="572119" cy="75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35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744638" y="3702091"/>
            <a:ext cx="2125818" cy="625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35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KPI Cards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855195" y="4328198"/>
            <a:ext cx="4186571" cy="312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35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Bar Charts Line Charts Pie &amp; Donut Charts Tables Scatter Plots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836069" y="8287655"/>
            <a:ext cx="12868161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allow users to filter and analyze the data dynamically.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932176" y="2996794"/>
            <a:ext cx="5801135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5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Interactive Filters (Slicers):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124182" y="3594602"/>
            <a:ext cx="4009920" cy="3602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5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Hospital Gender Blood Type Insurance Provider Medical Condition Doctor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26125" cy="10544175"/>
            <a:chOff x="0" y="0"/>
            <a:chExt cx="24701500" cy="14058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01500" cy="14058900"/>
            </a:xfrm>
            <a:custGeom>
              <a:avLst/>
              <a:gdLst/>
              <a:ahLst/>
              <a:cxnLst/>
              <a:rect r="r" b="b" t="t" l="l"/>
              <a:pathLst>
                <a:path h="14058900" w="24701500">
                  <a:moveTo>
                    <a:pt x="0" y="0"/>
                  </a:moveTo>
                  <a:lnTo>
                    <a:pt x="24701500" y="0"/>
                  </a:lnTo>
                  <a:lnTo>
                    <a:pt x="24701500" y="14058900"/>
                  </a:lnTo>
                  <a:lnTo>
                    <a:pt x="0" y="1405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2373" y="-67"/>
            <a:ext cx="4786312" cy="2524125"/>
            <a:chOff x="0" y="0"/>
            <a:chExt cx="6381750" cy="3365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1750" cy="3365500"/>
            </a:xfrm>
            <a:custGeom>
              <a:avLst/>
              <a:gdLst/>
              <a:ahLst/>
              <a:cxnLst/>
              <a:rect r="r" b="b" t="t" l="l"/>
              <a:pathLst>
                <a:path h="3365500" w="6381750">
                  <a:moveTo>
                    <a:pt x="0" y="0"/>
                  </a:moveTo>
                  <a:lnTo>
                    <a:pt x="6381750" y="0"/>
                  </a:lnTo>
                  <a:lnTo>
                    <a:pt x="6381750" y="3365500"/>
                  </a:lnTo>
                  <a:lnTo>
                    <a:pt x="0" y="336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89415" y="1067962"/>
            <a:ext cx="9153525" cy="1609725"/>
            <a:chOff x="0" y="0"/>
            <a:chExt cx="12204700" cy="2146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04700" cy="2146300"/>
            </a:xfrm>
            <a:custGeom>
              <a:avLst/>
              <a:gdLst/>
              <a:ahLst/>
              <a:cxnLst/>
              <a:rect r="r" b="b" t="t" l="l"/>
              <a:pathLst>
                <a:path h="2146300" w="12204700">
                  <a:moveTo>
                    <a:pt x="0" y="0"/>
                  </a:moveTo>
                  <a:lnTo>
                    <a:pt x="12204700" y="0"/>
                  </a:lnTo>
                  <a:lnTo>
                    <a:pt x="12204700" y="2146300"/>
                  </a:lnTo>
                  <a:lnTo>
                    <a:pt x="0" y="214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443431" y="1511913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5161" y="9258300"/>
            <a:ext cx="4124325" cy="1028700"/>
            <a:chOff x="0" y="0"/>
            <a:chExt cx="54991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91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2038" y="0"/>
            <a:ext cx="3838575" cy="1028700"/>
            <a:chOff x="0" y="0"/>
            <a:chExt cx="5118100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81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8100">
                  <a:moveTo>
                    <a:pt x="0" y="0"/>
                  </a:moveTo>
                  <a:lnTo>
                    <a:pt x="5118100" y="0"/>
                  </a:lnTo>
                  <a:lnTo>
                    <a:pt x="51181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31" t="0" r="-31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71512" y="1779318"/>
            <a:ext cx="28575" cy="4314825"/>
          </a:xfrm>
          <a:custGeom>
            <a:avLst/>
            <a:gdLst/>
            <a:ahLst/>
            <a:cxnLst/>
            <a:rect r="r" b="b" t="t" l="l"/>
            <a:pathLst>
              <a:path h="4314825" w="28575">
                <a:moveTo>
                  <a:pt x="0" y="0"/>
                </a:moveTo>
                <a:lnTo>
                  <a:pt x="28575" y="0"/>
                </a:lnTo>
                <a:lnTo>
                  <a:pt x="28575" y="4314825"/>
                </a:lnTo>
                <a:lnTo>
                  <a:pt x="0" y="4314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7837" y="4399540"/>
            <a:ext cx="28575" cy="4314825"/>
          </a:xfrm>
          <a:custGeom>
            <a:avLst/>
            <a:gdLst/>
            <a:ahLst/>
            <a:cxnLst/>
            <a:rect r="r" b="b" t="t" l="l"/>
            <a:pathLst>
              <a:path h="4314825" w="28575">
                <a:moveTo>
                  <a:pt x="0" y="0"/>
                </a:moveTo>
                <a:lnTo>
                  <a:pt x="28575" y="0"/>
                </a:lnTo>
                <a:lnTo>
                  <a:pt x="28575" y="4314825"/>
                </a:lnTo>
                <a:lnTo>
                  <a:pt x="0" y="4314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767101" y="1563233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882017" y="3874284"/>
            <a:ext cx="4972050" cy="4419600"/>
            <a:chOff x="0" y="0"/>
            <a:chExt cx="6629400" cy="589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29400" cy="5892800"/>
            </a:xfrm>
            <a:custGeom>
              <a:avLst/>
              <a:gdLst/>
              <a:ahLst/>
              <a:cxnLst/>
              <a:rect r="r" b="b" t="t" l="l"/>
              <a:pathLst>
                <a:path h="5892800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5892800"/>
                  </a:lnTo>
                  <a:lnTo>
                    <a:pt x="0" y="589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391832" y="4834404"/>
            <a:ext cx="104775" cy="104775"/>
          </a:xfrm>
          <a:custGeom>
            <a:avLst/>
            <a:gdLst/>
            <a:ahLst/>
            <a:cxnLst/>
            <a:rect r="r" b="b" t="t" l="l"/>
            <a:pathLst>
              <a:path h="104775" w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391832" y="5253504"/>
            <a:ext cx="104775" cy="104775"/>
          </a:xfrm>
          <a:custGeom>
            <a:avLst/>
            <a:gdLst/>
            <a:ahLst/>
            <a:cxnLst/>
            <a:rect r="r" b="b" t="t" l="l"/>
            <a:pathLst>
              <a:path h="104775" w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391832" y="5672604"/>
            <a:ext cx="104775" cy="104775"/>
          </a:xfrm>
          <a:custGeom>
            <a:avLst/>
            <a:gdLst/>
            <a:ahLst/>
            <a:cxnLst/>
            <a:rect r="r" b="b" t="t" l="l"/>
            <a:pathLst>
              <a:path h="104775" w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391832" y="6091704"/>
            <a:ext cx="104775" cy="104775"/>
          </a:xfrm>
          <a:custGeom>
            <a:avLst/>
            <a:gdLst/>
            <a:ahLst/>
            <a:cxnLst/>
            <a:rect r="r" b="b" t="t" l="l"/>
            <a:pathLst>
              <a:path h="104775" w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391832" y="7768104"/>
            <a:ext cx="104775" cy="104775"/>
          </a:xfrm>
          <a:custGeom>
            <a:avLst/>
            <a:gdLst/>
            <a:ahLst/>
            <a:cxnLst/>
            <a:rect r="r" b="b" t="t" l="l"/>
            <a:pathLst>
              <a:path h="104775" w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391832" y="8187204"/>
            <a:ext cx="104775" cy="104775"/>
          </a:xfrm>
          <a:custGeom>
            <a:avLst/>
            <a:gdLst/>
            <a:ahLst/>
            <a:cxnLst/>
            <a:rect r="r" b="b" t="t" l="l"/>
            <a:pathLst>
              <a:path h="104775" w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391832" y="8606304"/>
            <a:ext cx="104775" cy="104775"/>
          </a:xfrm>
          <a:custGeom>
            <a:avLst/>
            <a:gdLst/>
            <a:ahLst/>
            <a:cxnLst/>
            <a:rect r="r" b="b" t="t" l="l"/>
            <a:pathLst>
              <a:path h="104775" w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4767148" y="1563281"/>
            <a:ext cx="619125" cy="619125"/>
            <a:chOff x="12713652" y="4170018"/>
            <a:chExt cx="1648473" cy="16484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" y="2"/>
              <a:ext cx="1648472" cy="1648473"/>
            </a:xfrm>
            <a:custGeom>
              <a:avLst/>
              <a:gdLst/>
              <a:ahLst/>
              <a:cxnLst/>
              <a:rect r="r" b="b" t="t" l="l"/>
              <a:pathLst>
                <a:path h="1648473" w="1648472">
                  <a:moveTo>
                    <a:pt x="1648472" y="0"/>
                  </a:moveTo>
                  <a:lnTo>
                    <a:pt x="1648472" y="1648473"/>
                  </a:lnTo>
                  <a:lnTo>
                    <a:pt x="0" y="1648473"/>
                  </a:lnTo>
                  <a:lnTo>
                    <a:pt x="0" y="0"/>
                  </a:lnTo>
                  <a:lnTo>
                    <a:pt x="164847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443479" y="1511960"/>
            <a:ext cx="619125" cy="619125"/>
            <a:chOff x="33183881" y="4033152"/>
            <a:chExt cx="1648473" cy="16484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" y="0"/>
              <a:ext cx="1648473" cy="1648473"/>
            </a:xfrm>
            <a:custGeom>
              <a:avLst/>
              <a:gdLst/>
              <a:ahLst/>
              <a:cxnLst/>
              <a:rect r="r" b="b" t="t" l="l"/>
              <a:pathLst>
                <a:path h="1648473" w="1648473">
                  <a:moveTo>
                    <a:pt x="1648473" y="0"/>
                  </a:moveTo>
                  <a:lnTo>
                    <a:pt x="1648473" y="1648472"/>
                  </a:lnTo>
                  <a:lnTo>
                    <a:pt x="0" y="1648472"/>
                  </a:lnTo>
                  <a:lnTo>
                    <a:pt x="0" y="0"/>
                  </a:lnTo>
                  <a:lnTo>
                    <a:pt x="16484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71550" y="1670971"/>
            <a:ext cx="28575" cy="4533900"/>
            <a:chOff x="2590800" y="4459002"/>
            <a:chExt cx="76200" cy="12084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6"/>
              <a:ext cx="76200" cy="12084238"/>
            </a:xfrm>
            <a:custGeom>
              <a:avLst/>
              <a:gdLst/>
              <a:ahLst/>
              <a:cxnLst/>
              <a:rect r="r" b="b" t="t" l="l"/>
              <a:pathLst>
                <a:path h="12084238" w="76200">
                  <a:moveTo>
                    <a:pt x="76200" y="0"/>
                  </a:moveTo>
                  <a:lnTo>
                    <a:pt x="76200" y="12084238"/>
                  </a:lnTo>
                  <a:lnTo>
                    <a:pt x="0" y="12084238"/>
                  </a:ln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287875" y="4291193"/>
            <a:ext cx="28575" cy="4533900"/>
            <a:chOff x="46101000" y="11446257"/>
            <a:chExt cx="76200" cy="120842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-1"/>
              <a:ext cx="76200" cy="12084253"/>
            </a:xfrm>
            <a:custGeom>
              <a:avLst/>
              <a:gdLst/>
              <a:ahLst/>
              <a:cxnLst/>
              <a:rect r="r" b="b" t="t" l="l"/>
              <a:pathLst>
                <a:path h="12084253" w="76200">
                  <a:moveTo>
                    <a:pt x="76200" y="0"/>
                  </a:moveTo>
                  <a:lnTo>
                    <a:pt x="76200" y="12084253"/>
                  </a:lnTo>
                  <a:lnTo>
                    <a:pt x="0" y="12084253"/>
                  </a:ln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5531158" y="1444742"/>
            <a:ext cx="7007390" cy="68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Smart Healthcare Analytics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53707" y="2965513"/>
            <a:ext cx="10350570" cy="65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page shows overall healthcare performance.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888323" y="3623281"/>
            <a:ext cx="73323" cy="59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2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50310" y="9399222"/>
            <a:ext cx="11337779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provides a quick overview of hospital operations.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53707" y="3804256"/>
            <a:ext cx="1572397" cy="41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KPIs: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671782" y="4633827"/>
            <a:ext cx="3738039" cy="167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56K Total Patients 1.42 Billion Total Charges 15.5 Average Stay 51 Average Age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53707" y="6737956"/>
            <a:ext cx="3387519" cy="41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Visualizations include: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71782" y="7567527"/>
            <a:ext cx="4486589" cy="125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charges by year Patient distribution by gender Medical condition vs billing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41" y="0"/>
            <a:ext cx="18259425" cy="10287000"/>
            <a:chOff x="0" y="0"/>
            <a:chExt cx="243459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459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45900">
                  <a:moveTo>
                    <a:pt x="0" y="0"/>
                  </a:moveTo>
                  <a:lnTo>
                    <a:pt x="24345900" y="0"/>
                  </a:lnTo>
                  <a:lnTo>
                    <a:pt x="243459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92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37099" y="1066371"/>
            <a:ext cx="8013697" cy="1612897"/>
            <a:chOff x="0" y="0"/>
            <a:chExt cx="106849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84891" cy="2150491"/>
            </a:xfrm>
            <a:custGeom>
              <a:avLst/>
              <a:gdLst/>
              <a:ahLst/>
              <a:cxnLst/>
              <a:rect r="r" b="b" t="t" l="l"/>
              <a:pathLst>
                <a:path h="2150491" w="10684891">
                  <a:moveTo>
                    <a:pt x="0" y="0"/>
                  </a:moveTo>
                  <a:lnTo>
                    <a:pt x="10684891" y="0"/>
                  </a:lnTo>
                  <a:lnTo>
                    <a:pt x="10684891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353734" y="167001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" t="0" r="-11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74386" y="1561652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790609" y="5463673"/>
            <a:ext cx="1428750" cy="1816103"/>
          </a:xfrm>
          <a:custGeom>
            <a:avLst/>
            <a:gdLst/>
            <a:ahLst/>
            <a:cxnLst/>
            <a:rect r="r" b="b" t="t" l="l"/>
            <a:pathLst>
              <a:path h="1816103" w="1428750">
                <a:moveTo>
                  <a:pt x="0" y="0"/>
                </a:moveTo>
                <a:lnTo>
                  <a:pt x="1428750" y="0"/>
                </a:lnTo>
                <a:lnTo>
                  <a:pt x="1428750" y="1816104"/>
                </a:lnTo>
                <a:lnTo>
                  <a:pt x="0" y="181610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433203" y="7127424"/>
            <a:ext cx="507997" cy="507997"/>
          </a:xfrm>
          <a:custGeom>
            <a:avLst/>
            <a:gdLst/>
            <a:ahLst/>
            <a:cxnLst/>
            <a:rect r="r" b="b" t="t" l="l"/>
            <a:pathLst>
              <a:path h="507997" w="507997">
                <a:moveTo>
                  <a:pt x="0" y="0"/>
                </a:moveTo>
                <a:lnTo>
                  <a:pt x="507997" y="0"/>
                </a:lnTo>
                <a:lnTo>
                  <a:pt x="507997" y="507997"/>
                </a:lnTo>
                <a:lnTo>
                  <a:pt x="0" y="50799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511308" y="5845464"/>
            <a:ext cx="1987553" cy="1714500"/>
          </a:xfrm>
          <a:custGeom>
            <a:avLst/>
            <a:gdLst/>
            <a:ahLst/>
            <a:cxnLst/>
            <a:rect r="r" b="b" t="t" l="l"/>
            <a:pathLst>
              <a:path h="1714500" w="1987553">
                <a:moveTo>
                  <a:pt x="0" y="0"/>
                </a:moveTo>
                <a:lnTo>
                  <a:pt x="1987553" y="0"/>
                </a:lnTo>
                <a:lnTo>
                  <a:pt x="1987553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298556" y="6723078"/>
            <a:ext cx="584197" cy="431797"/>
          </a:xfrm>
          <a:custGeom>
            <a:avLst/>
            <a:gdLst/>
            <a:ahLst/>
            <a:cxnLst/>
            <a:rect r="r" b="b" t="t" l="l"/>
            <a:pathLst>
              <a:path h="431797" w="584197">
                <a:moveTo>
                  <a:pt x="0" y="0"/>
                </a:moveTo>
                <a:lnTo>
                  <a:pt x="584197" y="0"/>
                </a:lnTo>
                <a:lnTo>
                  <a:pt x="584197" y="431797"/>
                </a:lnTo>
                <a:lnTo>
                  <a:pt x="0" y="43179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263628" y="6687731"/>
            <a:ext cx="654053" cy="501653"/>
          </a:xfrm>
          <a:custGeom>
            <a:avLst/>
            <a:gdLst/>
            <a:ahLst/>
            <a:cxnLst/>
            <a:rect r="r" b="b" t="t" l="l"/>
            <a:pathLst>
              <a:path h="501653" w="654053">
                <a:moveTo>
                  <a:pt x="0" y="0"/>
                </a:moveTo>
                <a:lnTo>
                  <a:pt x="654053" y="0"/>
                </a:lnTo>
                <a:lnTo>
                  <a:pt x="654053" y="501653"/>
                </a:lnTo>
                <a:lnTo>
                  <a:pt x="0" y="50165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14378" y="4829394"/>
            <a:ext cx="1752600" cy="1930403"/>
          </a:xfrm>
          <a:custGeom>
            <a:avLst/>
            <a:gdLst/>
            <a:ahLst/>
            <a:cxnLst/>
            <a:rect r="r" b="b" t="t" l="l"/>
            <a:pathLst>
              <a:path h="1930403" w="1752600">
                <a:moveTo>
                  <a:pt x="0" y="0"/>
                </a:moveTo>
                <a:lnTo>
                  <a:pt x="1752600" y="0"/>
                </a:lnTo>
                <a:lnTo>
                  <a:pt x="1752600" y="1930403"/>
                </a:lnTo>
                <a:lnTo>
                  <a:pt x="0" y="193040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555731" y="4294803"/>
            <a:ext cx="69847" cy="273053"/>
          </a:xfrm>
          <a:custGeom>
            <a:avLst/>
            <a:gdLst/>
            <a:ahLst/>
            <a:cxnLst/>
            <a:rect r="r" b="b" t="t" l="l"/>
            <a:pathLst>
              <a:path h="273053" w="69847">
                <a:moveTo>
                  <a:pt x="0" y="0"/>
                </a:moveTo>
                <a:lnTo>
                  <a:pt x="69847" y="0"/>
                </a:lnTo>
                <a:lnTo>
                  <a:pt x="69847" y="273054"/>
                </a:lnTo>
                <a:lnTo>
                  <a:pt x="0" y="273054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580581" y="4697701"/>
            <a:ext cx="215903" cy="215903"/>
          </a:xfrm>
          <a:custGeom>
            <a:avLst/>
            <a:gdLst/>
            <a:ahLst/>
            <a:cxnLst/>
            <a:rect r="r" b="b" t="t" l="l"/>
            <a:pathLst>
              <a:path h="215903" w="215903">
                <a:moveTo>
                  <a:pt x="0" y="0"/>
                </a:moveTo>
                <a:lnTo>
                  <a:pt x="215903" y="0"/>
                </a:lnTo>
                <a:lnTo>
                  <a:pt x="215903" y="215904"/>
                </a:lnTo>
                <a:lnTo>
                  <a:pt x="0" y="21590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178045" y="5675414"/>
            <a:ext cx="273053" cy="69847"/>
          </a:xfrm>
          <a:custGeom>
            <a:avLst/>
            <a:gdLst/>
            <a:ahLst/>
            <a:cxnLst/>
            <a:rect r="r" b="b" t="t" l="l"/>
            <a:pathLst>
              <a:path h="69847" w="273053">
                <a:moveTo>
                  <a:pt x="0" y="0"/>
                </a:moveTo>
                <a:lnTo>
                  <a:pt x="273053" y="0"/>
                </a:lnTo>
                <a:lnTo>
                  <a:pt x="273053" y="69847"/>
                </a:lnTo>
                <a:lnTo>
                  <a:pt x="0" y="69847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580914" y="6505889"/>
            <a:ext cx="215903" cy="215903"/>
          </a:xfrm>
          <a:custGeom>
            <a:avLst/>
            <a:gdLst/>
            <a:ahLst/>
            <a:cxnLst/>
            <a:rect r="r" b="b" t="t" l="l"/>
            <a:pathLst>
              <a:path h="215903" w="215903">
                <a:moveTo>
                  <a:pt x="0" y="0"/>
                </a:moveTo>
                <a:lnTo>
                  <a:pt x="215903" y="0"/>
                </a:lnTo>
                <a:lnTo>
                  <a:pt x="215903" y="215904"/>
                </a:lnTo>
                <a:lnTo>
                  <a:pt x="0" y="215904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86187" y="4697225"/>
            <a:ext cx="215903" cy="215903"/>
          </a:xfrm>
          <a:custGeom>
            <a:avLst/>
            <a:gdLst/>
            <a:ahLst/>
            <a:cxnLst/>
            <a:rect r="r" b="b" t="t" l="l"/>
            <a:pathLst>
              <a:path h="215903" w="215903">
                <a:moveTo>
                  <a:pt x="0" y="0"/>
                </a:moveTo>
                <a:lnTo>
                  <a:pt x="215904" y="0"/>
                </a:lnTo>
                <a:lnTo>
                  <a:pt x="215904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598051" y="7402316"/>
            <a:ext cx="1066800" cy="1073153"/>
          </a:xfrm>
          <a:custGeom>
            <a:avLst/>
            <a:gdLst/>
            <a:ahLst/>
            <a:cxnLst/>
            <a:rect r="r" b="b" t="t" l="l"/>
            <a:pathLst>
              <a:path h="1073153" w="1066800">
                <a:moveTo>
                  <a:pt x="0" y="0"/>
                </a:moveTo>
                <a:lnTo>
                  <a:pt x="1066800" y="0"/>
                </a:lnTo>
                <a:lnTo>
                  <a:pt x="1066800" y="1073153"/>
                </a:lnTo>
                <a:lnTo>
                  <a:pt x="0" y="1073153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562389" y="7370988"/>
            <a:ext cx="1136647" cy="1136647"/>
          </a:xfrm>
          <a:custGeom>
            <a:avLst/>
            <a:gdLst/>
            <a:ahLst/>
            <a:cxnLst/>
            <a:rect r="r" b="b" t="t" l="l"/>
            <a:pathLst>
              <a:path h="1136647" w="1136647">
                <a:moveTo>
                  <a:pt x="0" y="0"/>
                </a:moveTo>
                <a:lnTo>
                  <a:pt x="1136647" y="0"/>
                </a:lnTo>
                <a:lnTo>
                  <a:pt x="1136647" y="1136647"/>
                </a:lnTo>
                <a:lnTo>
                  <a:pt x="0" y="1136647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555731" y="6092476"/>
            <a:ext cx="69847" cy="666750"/>
          </a:xfrm>
          <a:custGeom>
            <a:avLst/>
            <a:gdLst/>
            <a:ahLst/>
            <a:cxnLst/>
            <a:rect r="r" b="b" t="t" l="l"/>
            <a:pathLst>
              <a:path h="666750" w="69847">
                <a:moveTo>
                  <a:pt x="0" y="0"/>
                </a:moveTo>
                <a:lnTo>
                  <a:pt x="69847" y="0"/>
                </a:lnTo>
                <a:lnTo>
                  <a:pt x="69847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294727" y="5827081"/>
            <a:ext cx="330203" cy="336547"/>
          </a:xfrm>
          <a:custGeom>
            <a:avLst/>
            <a:gdLst/>
            <a:ahLst/>
            <a:cxnLst/>
            <a:rect r="r" b="b" t="t" l="l"/>
            <a:pathLst>
              <a:path h="336547" w="330203">
                <a:moveTo>
                  <a:pt x="0" y="0"/>
                </a:moveTo>
                <a:lnTo>
                  <a:pt x="330203" y="0"/>
                </a:lnTo>
                <a:lnTo>
                  <a:pt x="330203" y="336547"/>
                </a:lnTo>
                <a:lnTo>
                  <a:pt x="0" y="336547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553807" y="5827014"/>
            <a:ext cx="336547" cy="336547"/>
          </a:xfrm>
          <a:custGeom>
            <a:avLst/>
            <a:gdLst/>
            <a:ahLst/>
            <a:cxnLst/>
            <a:rect r="r" b="b" t="t" l="l"/>
            <a:pathLst>
              <a:path h="336547" w="336547">
                <a:moveTo>
                  <a:pt x="0" y="0"/>
                </a:moveTo>
                <a:lnTo>
                  <a:pt x="336547" y="0"/>
                </a:lnTo>
                <a:lnTo>
                  <a:pt x="336547" y="336547"/>
                </a:lnTo>
                <a:lnTo>
                  <a:pt x="0" y="336547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033068" y="6328067"/>
            <a:ext cx="317497" cy="368303"/>
          </a:xfrm>
          <a:custGeom>
            <a:avLst/>
            <a:gdLst/>
            <a:ahLst/>
            <a:cxnLst/>
            <a:rect r="r" b="b" t="t" l="l"/>
            <a:pathLst>
              <a:path h="368303" w="317497">
                <a:moveTo>
                  <a:pt x="0" y="0"/>
                </a:moveTo>
                <a:lnTo>
                  <a:pt x="317497" y="0"/>
                </a:lnTo>
                <a:lnTo>
                  <a:pt x="317497" y="368303"/>
                </a:lnTo>
                <a:lnTo>
                  <a:pt x="0" y="368303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998140" y="6293148"/>
            <a:ext cx="387353" cy="438150"/>
          </a:xfrm>
          <a:custGeom>
            <a:avLst/>
            <a:gdLst/>
            <a:ahLst/>
            <a:cxnLst/>
            <a:rect r="r" b="b" t="t" l="l"/>
            <a:pathLst>
              <a:path h="438150" w="387353">
                <a:moveTo>
                  <a:pt x="0" y="0"/>
                </a:moveTo>
                <a:lnTo>
                  <a:pt x="387353" y="0"/>
                </a:lnTo>
                <a:lnTo>
                  <a:pt x="387353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346622" y="6144120"/>
            <a:ext cx="317497" cy="552450"/>
          </a:xfrm>
          <a:custGeom>
            <a:avLst/>
            <a:gdLst/>
            <a:ahLst/>
            <a:cxnLst/>
            <a:rect r="r" b="b" t="t" l="l"/>
            <a:pathLst>
              <a:path h="552450" w="317497">
                <a:moveTo>
                  <a:pt x="0" y="0"/>
                </a:moveTo>
                <a:lnTo>
                  <a:pt x="317496" y="0"/>
                </a:lnTo>
                <a:lnTo>
                  <a:pt x="317496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311694" y="6109192"/>
            <a:ext cx="387353" cy="622297"/>
          </a:xfrm>
          <a:custGeom>
            <a:avLst/>
            <a:gdLst/>
            <a:ahLst/>
            <a:cxnLst/>
            <a:rect r="r" b="b" t="t" l="l"/>
            <a:pathLst>
              <a:path h="622297" w="387353">
                <a:moveTo>
                  <a:pt x="0" y="0"/>
                </a:moveTo>
                <a:lnTo>
                  <a:pt x="387353" y="0"/>
                </a:lnTo>
                <a:lnTo>
                  <a:pt x="387353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659327" y="5867248"/>
            <a:ext cx="317497" cy="831847"/>
          </a:xfrm>
          <a:custGeom>
            <a:avLst/>
            <a:gdLst/>
            <a:ahLst/>
            <a:cxnLst/>
            <a:rect r="r" b="b" t="t" l="l"/>
            <a:pathLst>
              <a:path h="831847" w="317497">
                <a:moveTo>
                  <a:pt x="0" y="0"/>
                </a:moveTo>
                <a:lnTo>
                  <a:pt x="317497" y="0"/>
                </a:lnTo>
                <a:lnTo>
                  <a:pt x="317497" y="831846"/>
                </a:lnTo>
                <a:lnTo>
                  <a:pt x="0" y="831846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4624409" y="5834653"/>
            <a:ext cx="387353" cy="895350"/>
          </a:xfrm>
          <a:custGeom>
            <a:avLst/>
            <a:gdLst/>
            <a:ahLst/>
            <a:cxnLst/>
            <a:rect r="r" b="b" t="t" l="l"/>
            <a:pathLst>
              <a:path h="895350" w="387353">
                <a:moveTo>
                  <a:pt x="0" y="0"/>
                </a:moveTo>
                <a:lnTo>
                  <a:pt x="387353" y="0"/>
                </a:lnTo>
                <a:lnTo>
                  <a:pt x="387353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001064" y="5713524"/>
            <a:ext cx="425453" cy="69847"/>
          </a:xfrm>
          <a:custGeom>
            <a:avLst/>
            <a:gdLst/>
            <a:ahLst/>
            <a:cxnLst/>
            <a:rect r="r" b="b" t="t" l="l"/>
            <a:pathLst>
              <a:path h="69847" w="425453">
                <a:moveTo>
                  <a:pt x="0" y="0"/>
                </a:moveTo>
                <a:lnTo>
                  <a:pt x="425453" y="0"/>
                </a:lnTo>
                <a:lnTo>
                  <a:pt x="425453" y="69846"/>
                </a:lnTo>
                <a:lnTo>
                  <a:pt x="0" y="69846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000378" y="5972623"/>
            <a:ext cx="247650" cy="69847"/>
          </a:xfrm>
          <a:custGeom>
            <a:avLst/>
            <a:gdLst/>
            <a:ahLst/>
            <a:cxnLst/>
            <a:rect r="r" b="b" t="t" l="l"/>
            <a:pathLst>
              <a:path h="69847" w="247650">
                <a:moveTo>
                  <a:pt x="0" y="0"/>
                </a:moveTo>
                <a:lnTo>
                  <a:pt x="247650" y="0"/>
                </a:lnTo>
                <a:lnTo>
                  <a:pt x="247650" y="69847"/>
                </a:lnTo>
                <a:lnTo>
                  <a:pt x="0" y="69847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555731" y="6092476"/>
            <a:ext cx="69847" cy="666750"/>
          </a:xfrm>
          <a:custGeom>
            <a:avLst/>
            <a:gdLst/>
            <a:ahLst/>
            <a:cxnLst/>
            <a:rect r="r" b="b" t="t" l="l"/>
            <a:pathLst>
              <a:path h="666750" w="69847">
                <a:moveTo>
                  <a:pt x="0" y="0"/>
                </a:moveTo>
                <a:lnTo>
                  <a:pt x="69847" y="0"/>
                </a:lnTo>
                <a:lnTo>
                  <a:pt x="69847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294727" y="5827081"/>
            <a:ext cx="330203" cy="336547"/>
          </a:xfrm>
          <a:custGeom>
            <a:avLst/>
            <a:gdLst/>
            <a:ahLst/>
            <a:cxnLst/>
            <a:rect r="r" b="b" t="t" l="l"/>
            <a:pathLst>
              <a:path h="336547" w="330203">
                <a:moveTo>
                  <a:pt x="0" y="0"/>
                </a:moveTo>
                <a:lnTo>
                  <a:pt x="330203" y="0"/>
                </a:lnTo>
                <a:lnTo>
                  <a:pt x="330203" y="336547"/>
                </a:lnTo>
                <a:lnTo>
                  <a:pt x="0" y="336547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2553807" y="5827014"/>
            <a:ext cx="336547" cy="336547"/>
          </a:xfrm>
          <a:custGeom>
            <a:avLst/>
            <a:gdLst/>
            <a:ahLst/>
            <a:cxnLst/>
            <a:rect r="r" b="b" t="t" l="l"/>
            <a:pathLst>
              <a:path h="336547" w="336547">
                <a:moveTo>
                  <a:pt x="0" y="0"/>
                </a:moveTo>
                <a:lnTo>
                  <a:pt x="336547" y="0"/>
                </a:lnTo>
                <a:lnTo>
                  <a:pt x="336547" y="336547"/>
                </a:lnTo>
                <a:lnTo>
                  <a:pt x="0" y="336547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511714" y="8518065"/>
            <a:ext cx="126997" cy="126997"/>
          </a:xfrm>
          <a:custGeom>
            <a:avLst/>
            <a:gdLst/>
            <a:ahLst/>
            <a:cxnLst/>
            <a:rect r="r" b="b" t="t" l="l"/>
            <a:pathLst>
              <a:path h="126997" w="126997">
                <a:moveTo>
                  <a:pt x="0" y="0"/>
                </a:moveTo>
                <a:lnTo>
                  <a:pt x="126997" y="0"/>
                </a:lnTo>
                <a:lnTo>
                  <a:pt x="126997" y="126996"/>
                </a:lnTo>
                <a:lnTo>
                  <a:pt x="0" y="126996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2511714" y="8994315"/>
            <a:ext cx="126997" cy="126997"/>
          </a:xfrm>
          <a:custGeom>
            <a:avLst/>
            <a:gdLst/>
            <a:ahLst/>
            <a:cxnLst/>
            <a:rect r="r" b="b" t="t" l="l"/>
            <a:pathLst>
              <a:path h="126997" w="126997">
                <a:moveTo>
                  <a:pt x="0" y="0"/>
                </a:moveTo>
                <a:lnTo>
                  <a:pt x="126997" y="0"/>
                </a:lnTo>
                <a:lnTo>
                  <a:pt x="126997" y="126996"/>
                </a:lnTo>
                <a:lnTo>
                  <a:pt x="0" y="126996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2511714" y="9470565"/>
            <a:ext cx="126997" cy="126997"/>
          </a:xfrm>
          <a:custGeom>
            <a:avLst/>
            <a:gdLst/>
            <a:ahLst/>
            <a:cxnLst/>
            <a:rect r="r" b="b" t="t" l="l"/>
            <a:pathLst>
              <a:path h="126997" w="126997">
                <a:moveTo>
                  <a:pt x="0" y="0"/>
                </a:moveTo>
                <a:lnTo>
                  <a:pt x="126997" y="0"/>
                </a:lnTo>
                <a:lnTo>
                  <a:pt x="126997" y="126996"/>
                </a:lnTo>
                <a:lnTo>
                  <a:pt x="0" y="126996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5374434" y="1561700"/>
            <a:ext cx="622297" cy="622297"/>
            <a:chOff x="10752986" y="3127513"/>
            <a:chExt cx="1236358" cy="123635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" y="2"/>
              <a:ext cx="1236358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8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353782" y="1670066"/>
            <a:ext cx="622297" cy="622297"/>
            <a:chOff x="24711685" y="3344251"/>
            <a:chExt cx="1236358" cy="123635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1"/>
              <a:ext cx="1236357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7">
                  <a:moveTo>
                    <a:pt x="1236357" y="0"/>
                  </a:moveTo>
                  <a:lnTo>
                    <a:pt x="1236357" y="1236358"/>
                  </a:lnTo>
                  <a:lnTo>
                    <a:pt x="0" y="1236358"/>
                  </a:lnTo>
                  <a:lnTo>
                    <a:pt x="0" y="0"/>
                  </a:lnTo>
                  <a:lnTo>
                    <a:pt x="123635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166272" y="4294308"/>
            <a:ext cx="4673603" cy="4210050"/>
            <a:chOff x="22334543" y="8592540"/>
            <a:chExt cx="9343187" cy="841225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-5" y="1"/>
              <a:ext cx="9343187" cy="8412251"/>
            </a:xfrm>
            <a:custGeom>
              <a:avLst/>
              <a:gdLst/>
              <a:ahLst/>
              <a:cxnLst/>
              <a:rect r="r" b="b" t="t" l="l"/>
              <a:pathLst>
                <a:path h="8412251" w="9343187">
                  <a:moveTo>
                    <a:pt x="9343187" y="0"/>
                  </a:moveTo>
                  <a:lnTo>
                    <a:pt x="9343187" y="8412251"/>
                  </a:lnTo>
                  <a:lnTo>
                    <a:pt x="0" y="8412251"/>
                  </a:lnTo>
                  <a:lnTo>
                    <a:pt x="0" y="0"/>
                  </a:lnTo>
                  <a:lnTo>
                    <a:pt x="934318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5996702" y="1350035"/>
            <a:ext cx="6451054" cy="107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sz="6199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Medical Insights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237080" y="3006319"/>
            <a:ext cx="10397233" cy="14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page focuses on medical condition analysis.</a:t>
            </a:r>
          </a:p>
          <a:p>
            <a:pPr algn="l">
              <a:lnSpc>
                <a:spcPts val="3750"/>
              </a:lnSpc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visualizations: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237080" y="4944780"/>
            <a:ext cx="6682597" cy="191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Blood Type vs Medical Condition table  • Average stay by condition  • Condition percentage distribution  • Cost category by condition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237080" y="7335736"/>
            <a:ext cx="5528843" cy="482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helps hospitals understand: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9886" y="8278520"/>
            <a:ext cx="5397341" cy="143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Which diseases are common How long patients stay Which treatments are expensive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3099"/>
            <a:ext cx="18288000" cy="10648950"/>
            <a:chOff x="0" y="0"/>
            <a:chExt cx="24384000" cy="1419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198600"/>
            </a:xfrm>
            <a:custGeom>
              <a:avLst/>
              <a:gdLst/>
              <a:ahLst/>
              <a:cxnLst/>
              <a:rect r="r" b="b" t="t" l="l"/>
              <a:pathLst>
                <a:path h="1419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198600"/>
                  </a:lnTo>
                  <a:lnTo>
                    <a:pt x="0" y="1419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37099" y="1066371"/>
            <a:ext cx="8013697" cy="1612897"/>
            <a:chOff x="0" y="0"/>
            <a:chExt cx="106849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84891" cy="2150491"/>
            </a:xfrm>
            <a:custGeom>
              <a:avLst/>
              <a:gdLst/>
              <a:ahLst/>
              <a:cxnLst/>
              <a:rect r="r" b="b" t="t" l="l"/>
              <a:pathLst>
                <a:path h="2150491" w="10684891">
                  <a:moveTo>
                    <a:pt x="0" y="0"/>
                  </a:moveTo>
                  <a:lnTo>
                    <a:pt x="10684891" y="0"/>
                  </a:lnTo>
                  <a:lnTo>
                    <a:pt x="10684891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353734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" t="0" r="-11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52355" y="1561652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189076" y="5753938"/>
            <a:ext cx="939803" cy="939803"/>
          </a:xfrm>
          <a:custGeom>
            <a:avLst/>
            <a:gdLst/>
            <a:ahLst/>
            <a:cxnLst/>
            <a:rect r="r" b="b" t="t" l="l"/>
            <a:pathLst>
              <a:path h="939803" w="939803">
                <a:moveTo>
                  <a:pt x="0" y="0"/>
                </a:moveTo>
                <a:lnTo>
                  <a:pt x="939803" y="0"/>
                </a:lnTo>
                <a:lnTo>
                  <a:pt x="939803" y="939803"/>
                </a:lnTo>
                <a:lnTo>
                  <a:pt x="0" y="93980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690319" y="6118593"/>
            <a:ext cx="323850" cy="412747"/>
          </a:xfrm>
          <a:custGeom>
            <a:avLst/>
            <a:gdLst/>
            <a:ahLst/>
            <a:cxnLst/>
            <a:rect r="r" b="b" t="t" l="l"/>
            <a:pathLst>
              <a:path h="412747" w="323850">
                <a:moveTo>
                  <a:pt x="0" y="0"/>
                </a:moveTo>
                <a:lnTo>
                  <a:pt x="323850" y="0"/>
                </a:lnTo>
                <a:lnTo>
                  <a:pt x="323850" y="412747"/>
                </a:lnTo>
                <a:lnTo>
                  <a:pt x="0" y="41274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55769" y="4447013"/>
            <a:ext cx="2235203" cy="3067050"/>
          </a:xfrm>
          <a:custGeom>
            <a:avLst/>
            <a:gdLst/>
            <a:ahLst/>
            <a:cxnLst/>
            <a:rect r="r" b="b" t="t" l="l"/>
            <a:pathLst>
              <a:path h="3067050" w="2235203">
                <a:moveTo>
                  <a:pt x="0" y="0"/>
                </a:moveTo>
                <a:lnTo>
                  <a:pt x="2235203" y="0"/>
                </a:lnTo>
                <a:lnTo>
                  <a:pt x="2235203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385558" y="4784922"/>
            <a:ext cx="717547" cy="69847"/>
          </a:xfrm>
          <a:custGeom>
            <a:avLst/>
            <a:gdLst/>
            <a:ahLst/>
            <a:cxnLst/>
            <a:rect r="r" b="b" t="t" l="l"/>
            <a:pathLst>
              <a:path h="69847" w="717547">
                <a:moveTo>
                  <a:pt x="0" y="0"/>
                </a:moveTo>
                <a:lnTo>
                  <a:pt x="717546" y="0"/>
                </a:lnTo>
                <a:lnTo>
                  <a:pt x="717546" y="69847"/>
                </a:lnTo>
                <a:lnTo>
                  <a:pt x="0" y="6984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564998" y="5140690"/>
            <a:ext cx="1435103" cy="69847"/>
          </a:xfrm>
          <a:custGeom>
            <a:avLst/>
            <a:gdLst/>
            <a:ahLst/>
            <a:cxnLst/>
            <a:rect r="r" b="b" t="t" l="l"/>
            <a:pathLst>
              <a:path h="69847" w="1435103">
                <a:moveTo>
                  <a:pt x="0" y="0"/>
                </a:moveTo>
                <a:lnTo>
                  <a:pt x="1435103" y="0"/>
                </a:lnTo>
                <a:lnTo>
                  <a:pt x="1435103" y="69847"/>
                </a:lnTo>
                <a:lnTo>
                  <a:pt x="0" y="69847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564998" y="5433327"/>
            <a:ext cx="1435103" cy="69847"/>
          </a:xfrm>
          <a:custGeom>
            <a:avLst/>
            <a:gdLst/>
            <a:ahLst/>
            <a:cxnLst/>
            <a:rect r="r" b="b" t="t" l="l"/>
            <a:pathLst>
              <a:path h="69847" w="1435103">
                <a:moveTo>
                  <a:pt x="0" y="0"/>
                </a:moveTo>
                <a:lnTo>
                  <a:pt x="1435103" y="0"/>
                </a:lnTo>
                <a:lnTo>
                  <a:pt x="1435103" y="69847"/>
                </a:lnTo>
                <a:lnTo>
                  <a:pt x="0" y="69847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579297" y="6138377"/>
            <a:ext cx="1231897" cy="2031997"/>
          </a:xfrm>
          <a:custGeom>
            <a:avLst/>
            <a:gdLst/>
            <a:ahLst/>
            <a:cxnLst/>
            <a:rect r="r" b="b" t="t" l="l"/>
            <a:pathLst>
              <a:path h="2031997" w="1231897">
                <a:moveTo>
                  <a:pt x="0" y="0"/>
                </a:moveTo>
                <a:lnTo>
                  <a:pt x="1231897" y="0"/>
                </a:lnTo>
                <a:lnTo>
                  <a:pt x="1231897" y="2031997"/>
                </a:lnTo>
                <a:lnTo>
                  <a:pt x="0" y="203199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750747" y="6349908"/>
            <a:ext cx="888997" cy="323850"/>
          </a:xfrm>
          <a:custGeom>
            <a:avLst/>
            <a:gdLst/>
            <a:ahLst/>
            <a:cxnLst/>
            <a:rect r="r" b="b" t="t" l="l"/>
            <a:pathLst>
              <a:path h="323850" w="888997">
                <a:moveTo>
                  <a:pt x="0" y="0"/>
                </a:moveTo>
                <a:lnTo>
                  <a:pt x="888997" y="0"/>
                </a:lnTo>
                <a:lnTo>
                  <a:pt x="888997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068244" y="6810089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68244" y="7125233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068244" y="7440511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068244" y="7755855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749861" y="6810089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4" y="0"/>
                </a:lnTo>
                <a:lnTo>
                  <a:pt x="254004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749861" y="7125233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4" y="0"/>
                </a:lnTo>
                <a:lnTo>
                  <a:pt x="254004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749861" y="7440511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4" y="0"/>
                </a:lnTo>
                <a:lnTo>
                  <a:pt x="254004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749861" y="7755855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4" y="0"/>
                </a:lnTo>
                <a:lnTo>
                  <a:pt x="254004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386627" y="6810089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4386627" y="7125233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386627" y="7440511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386627" y="7755855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979548" y="5963507"/>
            <a:ext cx="444503" cy="2228850"/>
          </a:xfrm>
          <a:custGeom>
            <a:avLst/>
            <a:gdLst/>
            <a:ahLst/>
            <a:cxnLst/>
            <a:rect r="r" b="b" t="t" l="l"/>
            <a:pathLst>
              <a:path h="2228850" w="444503">
                <a:moveTo>
                  <a:pt x="0" y="0"/>
                </a:moveTo>
                <a:lnTo>
                  <a:pt x="444504" y="0"/>
                </a:lnTo>
                <a:lnTo>
                  <a:pt x="444504" y="2228850"/>
                </a:lnTo>
                <a:lnTo>
                  <a:pt x="0" y="2228850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647296" y="4986366"/>
            <a:ext cx="304800" cy="939803"/>
          </a:xfrm>
          <a:custGeom>
            <a:avLst/>
            <a:gdLst/>
            <a:ahLst/>
            <a:cxnLst/>
            <a:rect r="r" b="b" t="t" l="l"/>
            <a:pathLst>
              <a:path h="939803" w="304800">
                <a:moveTo>
                  <a:pt x="0" y="0"/>
                </a:moveTo>
                <a:lnTo>
                  <a:pt x="304800" y="0"/>
                </a:lnTo>
                <a:lnTo>
                  <a:pt x="304800" y="939803"/>
                </a:lnTo>
                <a:lnTo>
                  <a:pt x="0" y="939803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049842" y="4652534"/>
            <a:ext cx="304800" cy="1276350"/>
          </a:xfrm>
          <a:custGeom>
            <a:avLst/>
            <a:gdLst/>
            <a:ahLst/>
            <a:cxnLst/>
            <a:rect r="r" b="b" t="t" l="l"/>
            <a:pathLst>
              <a:path h="1276350" w="304800">
                <a:moveTo>
                  <a:pt x="0" y="0"/>
                </a:moveTo>
                <a:lnTo>
                  <a:pt x="304800" y="0"/>
                </a:lnTo>
                <a:lnTo>
                  <a:pt x="304800" y="1276350"/>
                </a:lnTo>
                <a:lnTo>
                  <a:pt x="0" y="1276350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452559" y="5196307"/>
            <a:ext cx="304800" cy="730253"/>
          </a:xfrm>
          <a:custGeom>
            <a:avLst/>
            <a:gdLst/>
            <a:ahLst/>
            <a:cxnLst/>
            <a:rect r="r" b="b" t="t" l="l"/>
            <a:pathLst>
              <a:path h="730253" w="304800">
                <a:moveTo>
                  <a:pt x="0" y="0"/>
                </a:moveTo>
                <a:lnTo>
                  <a:pt x="304800" y="0"/>
                </a:lnTo>
                <a:lnTo>
                  <a:pt x="304800" y="730253"/>
                </a:lnTo>
                <a:lnTo>
                  <a:pt x="0" y="730253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855276" y="4398521"/>
            <a:ext cx="304800" cy="1530353"/>
          </a:xfrm>
          <a:custGeom>
            <a:avLst/>
            <a:gdLst/>
            <a:ahLst/>
            <a:cxnLst/>
            <a:rect r="r" b="b" t="t" l="l"/>
            <a:pathLst>
              <a:path h="1530353" w="304800">
                <a:moveTo>
                  <a:pt x="0" y="0"/>
                </a:moveTo>
                <a:lnTo>
                  <a:pt x="304800" y="0"/>
                </a:lnTo>
                <a:lnTo>
                  <a:pt x="304800" y="1530353"/>
                </a:lnTo>
                <a:lnTo>
                  <a:pt x="0" y="1530353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5257821" y="4188724"/>
            <a:ext cx="304800" cy="1739903"/>
          </a:xfrm>
          <a:custGeom>
            <a:avLst/>
            <a:gdLst/>
            <a:ahLst/>
            <a:cxnLst/>
            <a:rect r="r" b="b" t="t" l="l"/>
            <a:pathLst>
              <a:path h="1739903" w="304800">
                <a:moveTo>
                  <a:pt x="0" y="0"/>
                </a:moveTo>
                <a:lnTo>
                  <a:pt x="304800" y="0"/>
                </a:lnTo>
                <a:lnTo>
                  <a:pt x="304800" y="1739903"/>
                </a:lnTo>
                <a:lnTo>
                  <a:pt x="0" y="1739903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441289" y="3891372"/>
            <a:ext cx="1962150" cy="863603"/>
          </a:xfrm>
          <a:custGeom>
            <a:avLst/>
            <a:gdLst/>
            <a:ahLst/>
            <a:cxnLst/>
            <a:rect r="r" b="b" t="t" l="l"/>
            <a:pathLst>
              <a:path h="863603" w="1962150">
                <a:moveTo>
                  <a:pt x="0" y="0"/>
                </a:moveTo>
                <a:lnTo>
                  <a:pt x="1962150" y="0"/>
                </a:lnTo>
                <a:lnTo>
                  <a:pt x="1962150" y="863603"/>
                </a:lnTo>
                <a:lnTo>
                  <a:pt x="0" y="863603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286600" y="8346186"/>
            <a:ext cx="126997" cy="126997"/>
          </a:xfrm>
          <a:custGeom>
            <a:avLst/>
            <a:gdLst/>
            <a:ahLst/>
            <a:cxnLst/>
            <a:rect r="r" b="b" t="t" l="l"/>
            <a:pathLst>
              <a:path h="126997" w="126997">
                <a:moveTo>
                  <a:pt x="0" y="0"/>
                </a:moveTo>
                <a:lnTo>
                  <a:pt x="126997" y="0"/>
                </a:lnTo>
                <a:lnTo>
                  <a:pt x="126997" y="126997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2286600" y="8841486"/>
            <a:ext cx="126997" cy="126997"/>
          </a:xfrm>
          <a:custGeom>
            <a:avLst/>
            <a:gdLst/>
            <a:ahLst/>
            <a:cxnLst/>
            <a:rect r="r" b="b" t="t" l="l"/>
            <a:pathLst>
              <a:path h="126997" w="126997">
                <a:moveTo>
                  <a:pt x="0" y="0"/>
                </a:moveTo>
                <a:lnTo>
                  <a:pt x="126997" y="0"/>
                </a:lnTo>
                <a:lnTo>
                  <a:pt x="126997" y="126997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2286600" y="9336786"/>
            <a:ext cx="126997" cy="126997"/>
          </a:xfrm>
          <a:custGeom>
            <a:avLst/>
            <a:gdLst/>
            <a:ahLst/>
            <a:cxnLst/>
            <a:rect r="r" b="b" t="t" l="l"/>
            <a:pathLst>
              <a:path h="126997" w="126997">
                <a:moveTo>
                  <a:pt x="0" y="0"/>
                </a:moveTo>
                <a:lnTo>
                  <a:pt x="126997" y="0"/>
                </a:lnTo>
                <a:lnTo>
                  <a:pt x="126997" y="126997"/>
                </a:lnTo>
                <a:lnTo>
                  <a:pt x="0" y="126997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5352402" y="1561700"/>
            <a:ext cx="622297" cy="622297"/>
            <a:chOff x="10708930" y="3127513"/>
            <a:chExt cx="1236358" cy="123635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" y="2"/>
              <a:ext cx="1236357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7">
                  <a:moveTo>
                    <a:pt x="1236357" y="0"/>
                  </a:moveTo>
                  <a:lnTo>
                    <a:pt x="1236357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353782" y="1649216"/>
            <a:ext cx="622297" cy="622297"/>
            <a:chOff x="24711685" y="3302544"/>
            <a:chExt cx="1236358" cy="123635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3"/>
              <a:ext cx="1236357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7">
                  <a:moveTo>
                    <a:pt x="1236357" y="0"/>
                  </a:moveTo>
                  <a:lnTo>
                    <a:pt x="1236357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256797" y="3889896"/>
            <a:ext cx="4305300" cy="4305300"/>
            <a:chOff x="22516856" y="7783054"/>
            <a:chExt cx="8604072" cy="8604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" y="1"/>
              <a:ext cx="8604074" cy="8604071"/>
            </a:xfrm>
            <a:custGeom>
              <a:avLst/>
              <a:gdLst/>
              <a:ahLst/>
              <a:cxnLst/>
              <a:rect r="r" b="b" t="t" l="l"/>
              <a:pathLst>
                <a:path h="8604071" w="8604074">
                  <a:moveTo>
                    <a:pt x="8604074" y="0"/>
                  </a:moveTo>
                  <a:lnTo>
                    <a:pt x="8604074" y="8604071"/>
                  </a:lnTo>
                  <a:lnTo>
                    <a:pt x="0" y="8604071"/>
                  </a:lnTo>
                  <a:lnTo>
                    <a:pt x="0" y="0"/>
                  </a:lnTo>
                  <a:lnTo>
                    <a:pt x="860407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5958583" y="1367790"/>
            <a:ext cx="6467094" cy="91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5299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Financial Analytics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930460" y="2826172"/>
            <a:ext cx="8963616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page analyzes financial performance.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002431" y="3645532"/>
            <a:ext cx="3257055" cy="49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visualizations: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02431" y="4626064"/>
            <a:ext cx="7099773" cy="198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Total charges by insurance provider  • Charges by hospital  • Doctor-wise billing table  • Scatter chart for stay vs billing amount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002431" y="7112632"/>
            <a:ext cx="6428042" cy="49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helps management understand: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606831" y="8093164"/>
            <a:ext cx="4003986" cy="148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Revenue sources Insurance contribution Hospital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37099" y="1066371"/>
            <a:ext cx="8013697" cy="1612897"/>
            <a:chOff x="0" y="0"/>
            <a:chExt cx="106849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84891" cy="2150491"/>
            </a:xfrm>
            <a:custGeom>
              <a:avLst/>
              <a:gdLst/>
              <a:ahLst/>
              <a:cxnLst/>
              <a:rect r="r" b="b" t="t" l="l"/>
              <a:pathLst>
                <a:path h="2150491" w="10684891">
                  <a:moveTo>
                    <a:pt x="0" y="0"/>
                  </a:moveTo>
                  <a:lnTo>
                    <a:pt x="10684891" y="0"/>
                  </a:lnTo>
                  <a:lnTo>
                    <a:pt x="10684891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111428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" t="0" r="-11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28577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763060" y="691533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763060" y="735348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763060" y="910608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763060" y="954423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882447" y="3527488"/>
            <a:ext cx="4394197" cy="4108447"/>
          </a:xfrm>
          <a:custGeom>
            <a:avLst/>
            <a:gdLst/>
            <a:ahLst/>
            <a:cxnLst/>
            <a:rect r="r" b="b" t="t" l="l"/>
            <a:pathLst>
              <a:path h="4108447" w="4394197">
                <a:moveTo>
                  <a:pt x="0" y="0"/>
                </a:moveTo>
                <a:lnTo>
                  <a:pt x="4394197" y="0"/>
                </a:lnTo>
                <a:lnTo>
                  <a:pt x="4394197" y="4108447"/>
                </a:lnTo>
                <a:lnTo>
                  <a:pt x="0" y="410844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610987" y="4620311"/>
            <a:ext cx="1841497" cy="2349503"/>
          </a:xfrm>
          <a:custGeom>
            <a:avLst/>
            <a:gdLst/>
            <a:ahLst/>
            <a:cxnLst/>
            <a:rect r="r" b="b" t="t" l="l"/>
            <a:pathLst>
              <a:path h="2349503" w="1841497">
                <a:moveTo>
                  <a:pt x="0" y="0"/>
                </a:moveTo>
                <a:lnTo>
                  <a:pt x="1841497" y="0"/>
                </a:lnTo>
                <a:lnTo>
                  <a:pt x="1841497" y="2349503"/>
                </a:lnTo>
                <a:lnTo>
                  <a:pt x="0" y="2349503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086206" y="5268506"/>
            <a:ext cx="2793997" cy="2171700"/>
          </a:xfrm>
          <a:custGeom>
            <a:avLst/>
            <a:gdLst/>
            <a:ahLst/>
            <a:cxnLst/>
            <a:rect r="r" b="b" t="t" l="l"/>
            <a:pathLst>
              <a:path h="2171700" w="2793997">
                <a:moveTo>
                  <a:pt x="0" y="0"/>
                </a:moveTo>
                <a:lnTo>
                  <a:pt x="2793997" y="0"/>
                </a:lnTo>
                <a:lnTo>
                  <a:pt x="2793997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882447" y="3527488"/>
            <a:ext cx="4394197" cy="4108447"/>
          </a:xfrm>
          <a:custGeom>
            <a:avLst/>
            <a:gdLst/>
            <a:ahLst/>
            <a:cxnLst/>
            <a:rect r="r" b="b" t="t" l="l"/>
            <a:pathLst>
              <a:path h="4108447" w="4394197">
                <a:moveTo>
                  <a:pt x="0" y="0"/>
                </a:moveTo>
                <a:lnTo>
                  <a:pt x="4394197" y="0"/>
                </a:lnTo>
                <a:lnTo>
                  <a:pt x="4394197" y="4108447"/>
                </a:lnTo>
                <a:lnTo>
                  <a:pt x="0" y="410844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5528634" y="1649216"/>
            <a:ext cx="622297" cy="622297"/>
            <a:chOff x="11061380" y="3302544"/>
            <a:chExt cx="1236358" cy="12363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" y="3"/>
              <a:ext cx="1236358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8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11476" y="1649216"/>
            <a:ext cx="622297" cy="622297"/>
            <a:chOff x="24227067" y="3302544"/>
            <a:chExt cx="1236358" cy="12363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1" y="3"/>
              <a:ext cx="1236359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9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875189" y="3526660"/>
            <a:ext cx="4413247" cy="4114800"/>
            <a:chOff x="23752040" y="7053324"/>
            <a:chExt cx="8823160" cy="8229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-5" y="2"/>
              <a:ext cx="8823161" cy="8229600"/>
            </a:xfrm>
            <a:custGeom>
              <a:avLst/>
              <a:gdLst/>
              <a:ahLst/>
              <a:cxnLst/>
              <a:rect r="r" b="b" t="t" l="l"/>
              <a:pathLst>
                <a:path h="8229600" w="8823161">
                  <a:moveTo>
                    <a:pt x="8823161" y="0"/>
                  </a:moveTo>
                  <a:lnTo>
                    <a:pt x="8823161" y="8229600"/>
                  </a:lnTo>
                  <a:lnTo>
                    <a:pt x="0" y="8229600"/>
                  </a:lnTo>
                  <a:lnTo>
                    <a:pt x="0" y="0"/>
                  </a:lnTo>
                  <a:lnTo>
                    <a:pt x="88231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6239866" y="1794081"/>
            <a:ext cx="5893346" cy="65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7500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Key Insights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28211" y="2594724"/>
            <a:ext cx="85534" cy="78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15410" y="3634216"/>
            <a:ext cx="5957754" cy="175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Total patients analyzed: 56,000+  • Total healthcare charges: 1.42 Billion  • Average patient age: 51 years  • Average hospital stay: 15.5 days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515410" y="5833958"/>
            <a:ext cx="2693803" cy="44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Medical findings: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055068" y="6701266"/>
            <a:ext cx="7977045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Diabetes and hypertension are common conditions Some conditions require longer hospital stays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15410" y="8024708"/>
            <a:ext cx="2870092" cy="44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Financial findings: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055068" y="8892016"/>
            <a:ext cx="7173239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Insurance providers contribute major revenue Some hospitals generate higher charges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15410" y="2880474"/>
            <a:ext cx="9021032" cy="49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Important insightsdiscoveredfromthedashboard: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01583" y="-1648"/>
            <a:ext cx="4787903" cy="2527297"/>
            <a:chOff x="0" y="0"/>
            <a:chExt cx="6383871" cy="336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3909" cy="3369691"/>
            </a:xfrm>
            <a:custGeom>
              <a:avLst/>
              <a:gdLst/>
              <a:ahLst/>
              <a:cxnLst/>
              <a:rect r="r" b="b" t="t" l="l"/>
              <a:pathLst>
                <a:path h="3369691" w="6383909">
                  <a:moveTo>
                    <a:pt x="0" y="0"/>
                  </a:moveTo>
                  <a:lnTo>
                    <a:pt x="6383909" y="0"/>
                  </a:lnTo>
                  <a:lnTo>
                    <a:pt x="6383909" y="3369691"/>
                  </a:lnTo>
                  <a:lnTo>
                    <a:pt x="0" y="336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37099" y="1066371"/>
            <a:ext cx="8013697" cy="1612897"/>
            <a:chOff x="0" y="0"/>
            <a:chExt cx="10684929" cy="2150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84891" cy="2150491"/>
            </a:xfrm>
            <a:custGeom>
              <a:avLst/>
              <a:gdLst/>
              <a:ahLst/>
              <a:cxnLst/>
              <a:rect r="r" b="b" t="t" l="l"/>
              <a:pathLst>
                <a:path h="2150491" w="10684891">
                  <a:moveTo>
                    <a:pt x="0" y="0"/>
                  </a:moveTo>
                  <a:lnTo>
                    <a:pt x="10684891" y="0"/>
                  </a:lnTo>
                  <a:lnTo>
                    <a:pt x="10684891" y="2150491"/>
                  </a:lnTo>
                  <a:lnTo>
                    <a:pt x="0" y="2150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111428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163570" y="9258300"/>
            <a:ext cx="4127497" cy="1028700"/>
            <a:chOff x="0" y="0"/>
            <a:chExt cx="5503329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32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03291">
                  <a:moveTo>
                    <a:pt x="0" y="0"/>
                  </a:moveTo>
                  <a:lnTo>
                    <a:pt x="5503291" y="0"/>
                  </a:lnTo>
                  <a:lnTo>
                    <a:pt x="550329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48" y="0"/>
            <a:ext cx="3835403" cy="1028700"/>
            <a:chOff x="0" y="0"/>
            <a:chExt cx="5113871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39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5113909">
                  <a:moveTo>
                    <a:pt x="0" y="0"/>
                  </a:moveTo>
                  <a:lnTo>
                    <a:pt x="5113909" y="0"/>
                  </a:lnTo>
                  <a:lnTo>
                    <a:pt x="5113909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" t="0" r="-11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9921" y="1777727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7"/>
                </a:lnTo>
                <a:lnTo>
                  <a:pt x="0" y="43179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86246" y="4397950"/>
            <a:ext cx="31747" cy="4317997"/>
          </a:xfrm>
          <a:custGeom>
            <a:avLst/>
            <a:gdLst/>
            <a:ahLst/>
            <a:cxnLst/>
            <a:rect r="r" b="b" t="t" l="l"/>
            <a:pathLst>
              <a:path h="4317997" w="31747">
                <a:moveTo>
                  <a:pt x="0" y="0"/>
                </a:moveTo>
                <a:lnTo>
                  <a:pt x="31747" y="0"/>
                </a:lnTo>
                <a:lnTo>
                  <a:pt x="31747" y="4317996"/>
                </a:lnTo>
                <a:lnTo>
                  <a:pt x="0" y="43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28577" y="1649168"/>
            <a:ext cx="622297" cy="622297"/>
          </a:xfrm>
          <a:custGeom>
            <a:avLst/>
            <a:gdLst/>
            <a:ahLst/>
            <a:cxnLst/>
            <a:rect r="r" b="b" t="t" l="l"/>
            <a:pathLst>
              <a:path h="622297" w="622297">
                <a:moveTo>
                  <a:pt x="0" y="0"/>
                </a:moveTo>
                <a:lnTo>
                  <a:pt x="622297" y="0"/>
                </a:lnTo>
                <a:lnTo>
                  <a:pt x="62229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30839" y="3728456"/>
            <a:ext cx="3943350" cy="3581400"/>
          </a:xfrm>
          <a:custGeom>
            <a:avLst/>
            <a:gdLst/>
            <a:ahLst/>
            <a:cxnLst/>
            <a:rect r="r" b="b" t="t" l="l"/>
            <a:pathLst>
              <a:path h="3581400" w="3943350">
                <a:moveTo>
                  <a:pt x="0" y="0"/>
                </a:moveTo>
                <a:lnTo>
                  <a:pt x="3943350" y="0"/>
                </a:lnTo>
                <a:lnTo>
                  <a:pt x="3943350" y="3581400"/>
                </a:lnTo>
                <a:lnTo>
                  <a:pt x="0" y="3581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71" r="0" b="-106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528634" y="1649216"/>
            <a:ext cx="622297" cy="622297"/>
            <a:chOff x="11061380" y="3302544"/>
            <a:chExt cx="1236358" cy="12363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" y="3"/>
              <a:ext cx="1236358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8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11476" y="1649216"/>
            <a:ext cx="622297" cy="622297"/>
            <a:chOff x="24227067" y="3302544"/>
            <a:chExt cx="1236358" cy="12363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1" y="3"/>
              <a:ext cx="1236359" cy="1236358"/>
            </a:xfrm>
            <a:custGeom>
              <a:avLst/>
              <a:gdLst/>
              <a:ahLst/>
              <a:cxnLst/>
              <a:rect r="r" b="b" t="t" l="l"/>
              <a:pathLst>
                <a:path h="1236358" w="1236359">
                  <a:moveTo>
                    <a:pt x="1236358" y="0"/>
                  </a:moveTo>
                  <a:lnTo>
                    <a:pt x="1236358" y="1236357"/>
                  </a:lnTo>
                  <a:lnTo>
                    <a:pt x="0" y="1236357"/>
                  </a:lnTo>
                  <a:lnTo>
                    <a:pt x="0" y="0"/>
                  </a:lnTo>
                  <a:lnTo>
                    <a:pt x="12363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9959" y="1670971"/>
            <a:ext cx="31747" cy="4533900"/>
            <a:chOff x="1943100" y="3344251"/>
            <a:chExt cx="57150" cy="90631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1"/>
              <a:ext cx="57150" cy="9063180"/>
            </a:xfrm>
            <a:custGeom>
              <a:avLst/>
              <a:gdLst/>
              <a:ahLst/>
              <a:cxnLst/>
              <a:rect r="r" b="b" t="t" l="l"/>
              <a:pathLst>
                <a:path h="9063180" w="57150">
                  <a:moveTo>
                    <a:pt x="57150" y="0"/>
                  </a:moveTo>
                  <a:lnTo>
                    <a:pt x="57150" y="9063181"/>
                  </a:lnTo>
                  <a:lnTo>
                    <a:pt x="0" y="9063181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730896" y="3725866"/>
            <a:ext cx="3943350" cy="3587753"/>
            <a:chOff x="25463424" y="7456868"/>
            <a:chExt cx="7883436" cy="71652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"/>
              <a:ext cx="7883436" cy="7165212"/>
            </a:xfrm>
            <a:custGeom>
              <a:avLst/>
              <a:gdLst/>
              <a:ahLst/>
              <a:cxnLst/>
              <a:rect r="r" b="b" t="t" l="l"/>
              <a:pathLst>
                <a:path h="7165212" w="7883436">
                  <a:moveTo>
                    <a:pt x="7883437" y="0"/>
                  </a:moveTo>
                  <a:lnTo>
                    <a:pt x="7883437" y="7165212"/>
                  </a:lnTo>
                  <a:lnTo>
                    <a:pt x="0" y="7165212"/>
                  </a:lnTo>
                  <a:lnTo>
                    <a:pt x="0" y="0"/>
                  </a:lnTo>
                  <a:lnTo>
                    <a:pt x="788343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286284" y="4291193"/>
            <a:ext cx="31747" cy="4533900"/>
            <a:chOff x="34575750" y="8584693"/>
            <a:chExt cx="57150" cy="90631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150" cy="9063190"/>
            </a:xfrm>
            <a:custGeom>
              <a:avLst/>
              <a:gdLst/>
              <a:ahLst/>
              <a:cxnLst/>
              <a:rect r="r" b="b" t="t" l="l"/>
              <a:pathLst>
                <a:path h="9063190" w="57150">
                  <a:moveTo>
                    <a:pt x="57150" y="0"/>
                  </a:moveTo>
                  <a:lnTo>
                    <a:pt x="57150" y="9063189"/>
                  </a:lnTo>
                  <a:lnTo>
                    <a:pt x="0" y="9063189"/>
                  </a:lnTo>
                  <a:lnTo>
                    <a:pt x="0" y="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587080" y="1794081"/>
            <a:ext cx="5185077" cy="65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7500">
                <a:solidFill>
                  <a:srgbClr val="396FBE"/>
                </a:solidFill>
                <a:latin typeface="Arbutus Slab"/>
                <a:ea typeface="Arbutus Slab"/>
                <a:cs typeface="Arbutus Slab"/>
                <a:sym typeface="Arbutus Slab"/>
              </a:rPr>
              <a:t>Conclusion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69900" y="2535193"/>
            <a:ext cx="92069" cy="81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15080" y="2839993"/>
            <a:ext cx="14509261" cy="102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project demonstrateshowPowerBIcantransformraw healthcare data into meaningful insights.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15080" y="4078243"/>
            <a:ext cx="4807534" cy="81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Benefits of the dashboard: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15080" y="5060490"/>
            <a:ext cx="12987985" cy="393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Better healthcare analysis</a:t>
            </a:r>
          </a:p>
          <a:p>
            <a:pPr algn="l">
              <a:lnSpc>
                <a:spcPts val="1449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✔ Faster decision making</a:t>
            </a:r>
          </a:p>
          <a:p>
            <a:pPr algn="l">
              <a:lnSpc>
                <a:spcPts val="6651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✔ Easy visualization of complex data</a:t>
            </a:r>
          </a:p>
          <a:p>
            <a:pPr algn="l">
              <a:lnSpc>
                <a:spcPts val="1449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✔ Interactive exploration using filters</a:t>
            </a:r>
          </a:p>
          <a:p>
            <a:pPr algn="l">
              <a:lnSpc>
                <a:spcPts val="7248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dashboard helps hospitals improve patient care, cost management,</a:t>
            </a:r>
          </a:p>
          <a:p>
            <a:pPr algn="l">
              <a:lnSpc>
                <a:spcPts val="1449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operational efficiency.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62116" y="-657"/>
            <a:ext cx="7229475" cy="3533775"/>
            <a:chOff x="0" y="0"/>
            <a:chExt cx="9639300" cy="4711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39300" cy="4711700"/>
            </a:xfrm>
            <a:custGeom>
              <a:avLst/>
              <a:gdLst/>
              <a:ahLst/>
              <a:cxnLst/>
              <a:rect r="r" b="b" t="t" l="l"/>
              <a:pathLst>
                <a:path h="4711700" w="9639300">
                  <a:moveTo>
                    <a:pt x="0" y="0"/>
                  </a:moveTo>
                  <a:lnTo>
                    <a:pt x="9639300" y="0"/>
                  </a:lnTo>
                  <a:lnTo>
                    <a:pt x="9639300" y="4711700"/>
                  </a:lnTo>
                  <a:lnTo>
                    <a:pt x="0" y="471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29" y="6843046"/>
            <a:ext cx="8153400" cy="3448050"/>
            <a:chOff x="0" y="0"/>
            <a:chExt cx="10871200" cy="4597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712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10871200">
                  <a:moveTo>
                    <a:pt x="0" y="0"/>
                  </a:moveTo>
                  <a:lnTo>
                    <a:pt x="10871200" y="0"/>
                  </a:lnTo>
                  <a:lnTo>
                    <a:pt x="10871200" y="4597400"/>
                  </a:lnTo>
                  <a:lnTo>
                    <a:pt x="0" y="459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996260" y="2364486"/>
            <a:ext cx="1428750" cy="1428750"/>
            <a:chOff x="0" y="0"/>
            <a:chExt cx="1905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82" t="-182" r="-484" b="-48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916739" y="5369824"/>
            <a:ext cx="1295400" cy="1295400"/>
            <a:chOff x="0" y="0"/>
            <a:chExt cx="1727200" cy="172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27" t="-327" r="-408" b="-40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37649" y="9258300"/>
            <a:ext cx="7153275" cy="1028700"/>
            <a:chOff x="0" y="0"/>
            <a:chExt cx="9537700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377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537700">
                  <a:moveTo>
                    <a:pt x="0" y="0"/>
                  </a:moveTo>
                  <a:lnTo>
                    <a:pt x="9537700" y="0"/>
                  </a:lnTo>
                  <a:lnTo>
                    <a:pt x="95377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4286" y="0"/>
            <a:ext cx="6315075" cy="1028700"/>
            <a:chOff x="0" y="0"/>
            <a:chExt cx="8420100" cy="137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201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420100">
                  <a:moveTo>
                    <a:pt x="0" y="0"/>
                  </a:moveTo>
                  <a:lnTo>
                    <a:pt x="8420100" y="0"/>
                  </a:lnTo>
                  <a:lnTo>
                    <a:pt x="84201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20" t="0" r="-2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215062" y="6484144"/>
            <a:ext cx="5857875" cy="85725"/>
          </a:xfrm>
          <a:custGeom>
            <a:avLst/>
            <a:gdLst/>
            <a:ahLst/>
            <a:cxnLst/>
            <a:rect r="r" b="b" t="t" l="l"/>
            <a:pathLst>
              <a:path h="85725" w="5857875">
                <a:moveTo>
                  <a:pt x="0" y="0"/>
                </a:moveTo>
                <a:lnTo>
                  <a:pt x="5857876" y="0"/>
                </a:lnTo>
                <a:lnTo>
                  <a:pt x="5857876" y="85725"/>
                </a:ln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897880" y="6355556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047220" y="6355556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1512" y="1779318"/>
            <a:ext cx="28575" cy="4314825"/>
          </a:xfrm>
          <a:custGeom>
            <a:avLst/>
            <a:gdLst/>
            <a:ahLst/>
            <a:cxnLst/>
            <a:rect r="r" b="b" t="t" l="l"/>
            <a:pathLst>
              <a:path h="4314825" w="28575">
                <a:moveTo>
                  <a:pt x="0" y="0"/>
                </a:moveTo>
                <a:lnTo>
                  <a:pt x="28575" y="0"/>
                </a:lnTo>
                <a:lnTo>
                  <a:pt x="28575" y="4314825"/>
                </a:lnTo>
                <a:lnTo>
                  <a:pt x="0" y="43148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28649" y="1672161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28649" y="6089456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87837" y="4399540"/>
            <a:ext cx="28575" cy="4314825"/>
          </a:xfrm>
          <a:custGeom>
            <a:avLst/>
            <a:gdLst/>
            <a:ahLst/>
            <a:cxnLst/>
            <a:rect r="r" b="b" t="t" l="l"/>
            <a:pathLst>
              <a:path h="4314825" w="28575">
                <a:moveTo>
                  <a:pt x="0" y="0"/>
                </a:moveTo>
                <a:lnTo>
                  <a:pt x="28575" y="0"/>
                </a:lnTo>
                <a:lnTo>
                  <a:pt x="28575" y="4314825"/>
                </a:lnTo>
                <a:lnTo>
                  <a:pt x="0" y="43148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44974" y="4292384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44974" y="8709679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116646" y="2029063"/>
            <a:ext cx="876300" cy="876300"/>
            <a:chOff x="0" y="0"/>
            <a:chExt cx="1168400" cy="116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356" t="-356" r="-730" b="-73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5103316" y="6285767"/>
            <a:ext cx="561975" cy="561975"/>
          </a:xfrm>
          <a:custGeom>
            <a:avLst/>
            <a:gdLst/>
            <a:ahLst/>
            <a:cxnLst/>
            <a:rect r="r" b="b" t="t" l="l"/>
            <a:pathLst>
              <a:path h="561975" w="561975">
                <a:moveTo>
                  <a:pt x="0" y="0"/>
                </a:moveTo>
                <a:lnTo>
                  <a:pt x="561975" y="0"/>
                </a:lnTo>
                <a:lnTo>
                  <a:pt x="5619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71550" y="1670971"/>
            <a:ext cx="28575" cy="4533900"/>
            <a:chOff x="1295400" y="2229501"/>
            <a:chExt cx="38100" cy="60421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-3"/>
              <a:ext cx="38100" cy="6042129"/>
            </a:xfrm>
            <a:custGeom>
              <a:avLst/>
              <a:gdLst/>
              <a:ahLst/>
              <a:cxnLst/>
              <a:rect r="r" b="b" t="t" l="l"/>
              <a:pathLst>
                <a:path h="6042129" w="38100">
                  <a:moveTo>
                    <a:pt x="38100" y="0"/>
                  </a:moveTo>
                  <a:lnTo>
                    <a:pt x="38100" y="6042129"/>
                  </a:lnTo>
                  <a:lnTo>
                    <a:pt x="0" y="6042129"/>
                  </a:lnTo>
                  <a:lnTo>
                    <a:pt x="0" y="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113540" y="2025958"/>
            <a:ext cx="885825" cy="885825"/>
            <a:chOff x="2822194" y="2705418"/>
            <a:chExt cx="1172820" cy="11728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-1"/>
              <a:ext cx="1172820" cy="1172820"/>
            </a:xfrm>
            <a:custGeom>
              <a:avLst/>
              <a:gdLst/>
              <a:ahLst/>
              <a:cxnLst/>
              <a:rect r="r" b="b" t="t" l="l"/>
              <a:pathLst>
                <a:path h="1172820" w="1172820">
                  <a:moveTo>
                    <a:pt x="1172819" y="0"/>
                  </a:moveTo>
                  <a:lnTo>
                    <a:pt x="1172819" y="1172820"/>
                  </a:lnTo>
                  <a:lnTo>
                    <a:pt x="0" y="1172820"/>
                  </a:lnTo>
                  <a:lnTo>
                    <a:pt x="0" y="0"/>
                  </a:lnTo>
                  <a:lnTo>
                    <a:pt x="117281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993679" y="2361914"/>
            <a:ext cx="1438275" cy="1438275"/>
            <a:chOff x="3995012" y="3152653"/>
            <a:chExt cx="1910817" cy="19108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" y="-5"/>
              <a:ext cx="1910817" cy="1910829"/>
            </a:xfrm>
            <a:custGeom>
              <a:avLst/>
              <a:gdLst/>
              <a:ahLst/>
              <a:cxnLst/>
              <a:rect r="r" b="b" t="t" l="l"/>
              <a:pathLst>
                <a:path h="1910829" w="1910817">
                  <a:moveTo>
                    <a:pt x="1910817" y="0"/>
                  </a:moveTo>
                  <a:lnTo>
                    <a:pt x="1910817" y="1910829"/>
                  </a:lnTo>
                  <a:lnTo>
                    <a:pt x="0" y="1910829"/>
                  </a:lnTo>
                  <a:lnTo>
                    <a:pt x="0" y="0"/>
                  </a:lnTo>
                  <a:lnTo>
                    <a:pt x="19108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7287875" y="4291193"/>
            <a:ext cx="28575" cy="4533900"/>
            <a:chOff x="23050500" y="5723129"/>
            <a:chExt cx="38100" cy="60421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100" cy="6042126"/>
            </a:xfrm>
            <a:custGeom>
              <a:avLst/>
              <a:gdLst/>
              <a:ahLst/>
              <a:cxnLst/>
              <a:rect r="r" b="b" t="t" l="l"/>
              <a:pathLst>
                <a:path h="6042126" w="38100">
                  <a:moveTo>
                    <a:pt x="38100" y="0"/>
                  </a:moveTo>
                  <a:lnTo>
                    <a:pt x="38100" y="6042126"/>
                  </a:lnTo>
                  <a:lnTo>
                    <a:pt x="0" y="6042126"/>
                  </a:lnTo>
                  <a:lnTo>
                    <a:pt x="0" y="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912520" y="5365604"/>
            <a:ext cx="1304925" cy="1304925"/>
            <a:chOff x="18555653" y="7159763"/>
            <a:chExt cx="1728648" cy="17286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-1" y="2"/>
              <a:ext cx="1728648" cy="1728648"/>
            </a:xfrm>
            <a:custGeom>
              <a:avLst/>
              <a:gdLst/>
              <a:ahLst/>
              <a:cxnLst/>
              <a:rect r="r" b="b" t="t" l="l"/>
              <a:pathLst>
                <a:path h="1728648" w="1728648">
                  <a:moveTo>
                    <a:pt x="1728647" y="0"/>
                  </a:moveTo>
                  <a:lnTo>
                    <a:pt x="1728647" y="1728648"/>
                  </a:lnTo>
                  <a:lnTo>
                    <a:pt x="0" y="1728648"/>
                  </a:lnTo>
                  <a:lnTo>
                    <a:pt x="0" y="0"/>
                  </a:lnTo>
                  <a:lnTo>
                    <a:pt x="172864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103354" y="6285805"/>
            <a:ext cx="561975" cy="561975"/>
            <a:chOff x="20138647" y="8381911"/>
            <a:chExt cx="747611" cy="7476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-4" y="0"/>
              <a:ext cx="747624" cy="747611"/>
            </a:xfrm>
            <a:custGeom>
              <a:avLst/>
              <a:gdLst/>
              <a:ahLst/>
              <a:cxnLst/>
              <a:rect r="r" b="b" t="t" l="l"/>
              <a:pathLst>
                <a:path h="747611" w="747624">
                  <a:moveTo>
                    <a:pt x="747624" y="0"/>
                  </a:moveTo>
                  <a:lnTo>
                    <a:pt x="747624" y="747611"/>
                  </a:lnTo>
                  <a:lnTo>
                    <a:pt x="0" y="747611"/>
                  </a:lnTo>
                  <a:lnTo>
                    <a:pt x="0" y="0"/>
                  </a:lnTo>
                  <a:lnTo>
                    <a:pt x="7476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895975" y="6484144"/>
            <a:ext cx="6496050" cy="85725"/>
            <a:chOff x="7863840" y="8645525"/>
            <a:chExt cx="8656320" cy="114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656320" cy="114300"/>
            </a:xfrm>
            <a:custGeom>
              <a:avLst/>
              <a:gdLst/>
              <a:ahLst/>
              <a:cxnLst/>
              <a:rect r="r" b="b" t="t" l="l"/>
              <a:pathLst>
                <a:path h="114300" w="8656320">
                  <a:moveTo>
                    <a:pt x="8656320" y="0"/>
                  </a:moveTo>
                  <a:lnTo>
                    <a:pt x="8656320" y="114300"/>
                  </a:lnTo>
                  <a:lnTo>
                    <a:pt x="0" y="114300"/>
                  </a:lnTo>
                  <a:lnTo>
                    <a:pt x="0" y="0"/>
                  </a:lnTo>
                  <a:lnTo>
                    <a:pt x="86563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4288222" y="3237462"/>
            <a:ext cx="9952577" cy="252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32"/>
              </a:lnSpc>
            </a:pPr>
            <a:r>
              <a:rPr lang="en-US" sz="14594">
                <a:solidFill>
                  <a:srgbClr val="244B85"/>
                </a:solidFill>
                <a:latin typeface="Arbutus Slab"/>
                <a:ea typeface="Arbutus Slab"/>
                <a:cs typeface="Arbutus Slab"/>
                <a:sym typeface="Arbutus Slab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DAHDn6orU5o</dc:identifier>
  <dcterms:modified xsi:type="dcterms:W3CDTF">2011-08-01T06:04:30Z</dcterms:modified>
  <cp:revision>1</cp:revision>
  <dc:title>Student Name: Prancey Maurya Enrollment number : 2304030101346</dc:title>
</cp:coreProperties>
</file>